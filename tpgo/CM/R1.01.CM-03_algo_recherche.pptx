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632"/>
    <p:restoredTop sz="94720"/>
  </p:normalViewPr>
  <p:slideViewPr>
    <p:cSldViewPr snapToGrid="0">
      <p:cViewPr>
        <p:scale>
          <a:sx n="220" d="100"/>
          <a:sy n="220" d="100"/>
        </p:scale>
        <p:origin x="48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7469C8-2B6C-E51D-D034-F665F1275F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766A45B-25E6-C892-112B-918C0E7E4B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C350B1-AFD2-F4A6-0BEA-0952BCA91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9E67-719D-6248-8B58-9DF128B850BA}" type="datetimeFigureOut">
              <a:rPr lang="fr-FR" smtClean="0"/>
              <a:t>16/09/2025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5BF09F-7FB8-A9CE-C53D-F3FBEE0FB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621B73-D1CC-53E2-E36B-782E5B4EE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D219-65D7-FE4D-A3E0-8BF41B0120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2151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F48A08-60BE-88A4-4186-EBDB40F2B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4946A3-A8F0-85BB-CDF2-7A2E87929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A7E995-5CF4-305B-B8FE-B9FAD1DD7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9E67-719D-6248-8B58-9DF128B850BA}" type="datetimeFigureOut">
              <a:rPr lang="fr-FR" smtClean="0"/>
              <a:t>16/09/2025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12C397-E4D0-2D78-43CD-10C3C0952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1513FD5-C6CD-AA47-CA53-CA043A117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D219-65D7-FE4D-A3E0-8BF41B0120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1935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D47DDF-ABE1-1826-A6B2-8FB1D4CD1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6DE25D1-A709-BFFD-B0F7-E1AD03DD2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9EB81E-B173-6802-7C6B-7763AACA5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9E67-719D-6248-8B58-9DF128B850BA}" type="datetimeFigureOut">
              <a:rPr lang="fr-FR" smtClean="0"/>
              <a:t>16/09/2025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2132FE-E66C-0BFF-8683-75A499A76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5C3972-B656-7131-4DFA-00E8FF2B5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D219-65D7-FE4D-A3E0-8BF41B0120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2156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BF8E5D-EBD1-3301-F967-2EEBA35E0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E524D2-56AD-B79C-5552-FF7D54337D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C738A28-F30F-6D3C-F4FD-A37897967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65A17CD-7E89-639E-9727-9B26E85D8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9E67-719D-6248-8B58-9DF128B850BA}" type="datetimeFigureOut">
              <a:rPr lang="fr-FR" smtClean="0"/>
              <a:t>16/09/2025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49853D-D53D-B3CD-FA21-5BC608986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2DC911E-3EBC-B69F-8414-03BFC274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D219-65D7-FE4D-A3E0-8BF41B0120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1793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EE6BB-21FB-DC78-62AB-4993D1F31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120B41A-730F-128A-3637-F019DC8E8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19A5A5A-20DB-9A40-2613-30E8668080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9F34C28-21B5-E3F8-D28F-A57EDFE3A5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86FAC42-4B5F-AC63-FB54-E6C0062C51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1EA0B76-9EB9-7DB2-917B-5407C7638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9E67-719D-6248-8B58-9DF128B850BA}" type="datetimeFigureOut">
              <a:rPr lang="fr-FR" smtClean="0"/>
              <a:t>16/09/2025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210BAA6-BF75-CB37-C75B-C2600427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E86A080-D31C-FB2B-3F11-9A99AEB01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D219-65D7-FE4D-A3E0-8BF41B0120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261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4A5684-310D-CB6F-EA89-AC0D7C6FF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B13F922-1039-AA3F-35FF-669E69AFB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9E67-719D-6248-8B58-9DF128B850BA}" type="datetimeFigureOut">
              <a:rPr lang="fr-FR" smtClean="0"/>
              <a:t>16/09/2025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F079937-0372-5AEA-1FA8-72ABA3AF4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A25A178-E397-1668-920A-736B907DC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D219-65D7-FE4D-A3E0-8BF41B0120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33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DA9B69B-0653-307A-2DB2-391569503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9E67-719D-6248-8B58-9DF128B850BA}" type="datetimeFigureOut">
              <a:rPr lang="fr-FR" smtClean="0"/>
              <a:t>16/09/2025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161B899-482E-0A9E-D80D-B81B6B9F3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F579E0C-E0AA-809B-9002-ED86F57C9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D219-65D7-FE4D-A3E0-8BF41B0120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945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14472D-FC42-B8D4-19DB-76B394E13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14D530-9BC2-ECF1-2F5F-BB84BB664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0086CE8-6FD6-0B4F-81CA-0829F48560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6A22479-9BE0-E49B-8C4B-E0A76BFE8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9E67-719D-6248-8B58-9DF128B850BA}" type="datetimeFigureOut">
              <a:rPr lang="fr-FR" smtClean="0"/>
              <a:t>16/09/2025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F9985F8-D0AF-9FED-F87A-C18427C4F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F0ACC76-B95D-F335-8C60-F2502BD2D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D219-65D7-FE4D-A3E0-8BF41B0120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9699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15DA2F-F0AF-7D71-6E7C-9F86305D2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B7300BB-4F9F-3454-7F16-3A7FBBB09B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976942C-28E5-02FC-C4A3-29C669ED34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5AFC287-EEDD-85F1-7CC8-96124AAB5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9E67-719D-6248-8B58-9DF128B850BA}" type="datetimeFigureOut">
              <a:rPr lang="fr-FR" smtClean="0"/>
              <a:t>16/09/2025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E05FDDF-F1C8-FADB-099D-EDC89B51E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F97A640-E3B4-9651-E0E2-E8954C910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D219-65D7-FE4D-A3E0-8BF41B0120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3365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1429E3-1B00-BE08-0520-4649C95AD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2C2E0C4-E23C-528E-5AB7-269A86A300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CFEC732-D342-AD08-39A1-B0EABC841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9E67-719D-6248-8B58-9DF128B850BA}" type="datetimeFigureOut">
              <a:rPr lang="fr-FR" smtClean="0"/>
              <a:t>16/09/2025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521A2DF-D2A9-D18F-DFC6-497A4382D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50F163E-39CE-FAEF-011C-9BA5F11A3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D219-65D7-FE4D-A3E0-8BF41B0120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3050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A548164-386E-CF8E-3496-81DCB55357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449AD3B-86B6-6B50-3D5A-CADE242CC8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D7FECAB-7588-22DE-DCF9-336A86BB4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9E67-719D-6248-8B58-9DF128B850BA}" type="datetimeFigureOut">
              <a:rPr lang="fr-FR" smtClean="0"/>
              <a:t>16/09/2025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54A90A-1B8B-13BE-3F9F-C555BFAD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2E5BCE3-1E76-BDA9-EF92-679780C37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D219-65D7-FE4D-A3E0-8BF41B0120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7107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8F7896B-8F04-7D4F-71AA-B2F629E4E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4CA47D7-6605-0CDD-6740-2D4E8C97E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209E83-4D1C-7209-94D6-623B50922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889E67-719D-6248-8B58-9DF128B850BA}" type="datetimeFigureOut">
              <a:rPr lang="fr-FR" smtClean="0"/>
              <a:t>16/09/2025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34B008-68CA-A040-CA22-D356D76478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191E8F-251C-2ABA-F6B1-33DC7F567F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BED219-65D7-FE4D-A3E0-8BF41B0120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4904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8CAB4D-852E-6320-5C40-84408941F3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R1.01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9AB1AE7-3F2D-E5DD-B9A2-17F1DC54E0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CM-02</a:t>
            </a:r>
          </a:p>
          <a:p>
            <a:r>
              <a:rPr lang="fr-FR" dirty="0"/>
              <a:t>Algorithmique - recherche</a:t>
            </a:r>
          </a:p>
          <a:p>
            <a:r>
              <a:rPr lang="fr-FR" dirty="0"/>
              <a:t>Basé sur le cours de Loïg Jezequel</a:t>
            </a:r>
          </a:p>
        </p:txBody>
      </p:sp>
    </p:spTree>
    <p:extLst>
      <p:ext uri="{BB962C8B-B14F-4D97-AF65-F5344CB8AC3E}">
        <p14:creationId xmlns:p14="http://schemas.microsoft.com/office/powerpoint/2010/main" val="3900728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13DDD3-42F7-CE22-6814-D55AF04C7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Collection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72E5FB-99A0-B82F-8969-7F0A550D7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En programmation informatique, une collection est un regroupement d'un nombre variable d'éléments de données (éventuellement zéro) qui ont une signification commune pour le problème à résoudre et qui doivent être traités ensemble d'une manière contrôlée.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Exemple : </a:t>
            </a:r>
          </a:p>
          <a:p>
            <a:r>
              <a:rPr lang="fr-FR" dirty="0"/>
              <a:t>Tableau</a:t>
            </a:r>
          </a:p>
          <a:p>
            <a:r>
              <a:rPr lang="fr-FR" dirty="0"/>
              <a:t>Liste / pile / file </a:t>
            </a:r>
          </a:p>
          <a:p>
            <a:r>
              <a:rPr lang="fr-FR" dirty="0"/>
              <a:t>Ensembles / </a:t>
            </a:r>
            <a:r>
              <a:rPr lang="fr-FR" dirty="0" err="1"/>
              <a:t>multi-ensembles</a:t>
            </a:r>
            <a:r>
              <a:rPr lang="fr-FR" dirty="0"/>
              <a:t> / tableaux </a:t>
            </a:r>
            <a:r>
              <a:rPr lang="fr-FR" dirty="0" err="1"/>
              <a:t>associtifs</a:t>
            </a:r>
            <a:endParaRPr lang="fr-FR" dirty="0"/>
          </a:p>
          <a:p>
            <a:r>
              <a:rPr lang="fr-FR" dirty="0"/>
              <a:t>Arbres / Graphes</a:t>
            </a:r>
          </a:p>
        </p:txBody>
      </p:sp>
    </p:spTree>
    <p:extLst>
      <p:ext uri="{BB962C8B-B14F-4D97-AF65-F5344CB8AC3E}">
        <p14:creationId xmlns:p14="http://schemas.microsoft.com/office/powerpoint/2010/main" val="2505753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801E92-E50E-48BF-62A0-57B81A45D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Tableaux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D8C684-B490-1E83-0D94-26CDC42B6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Définition : </a:t>
            </a:r>
          </a:p>
          <a:p>
            <a:pPr marL="0" indent="0">
              <a:buNone/>
            </a:pPr>
            <a:r>
              <a:rPr lang="fr-FR" dirty="0"/>
              <a:t>	un tableau de taille n est une structure de donnée indicée de 0 à n−1 contenant n éléments (tous d’un même type).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/>
              <a:t>Opérations : </a:t>
            </a:r>
          </a:p>
          <a:p>
            <a:pPr marL="0" indent="0">
              <a:buNone/>
            </a:pPr>
            <a:r>
              <a:rPr lang="fr-FR" dirty="0"/>
              <a:t>Pour un tableau </a:t>
            </a:r>
            <a:r>
              <a:rPr lang="fr-FR" dirty="0" err="1"/>
              <a:t>t</a:t>
            </a:r>
            <a:endParaRPr lang="fr-FR" dirty="0"/>
          </a:p>
          <a:p>
            <a:r>
              <a:rPr lang="fr-FR" dirty="0" err="1"/>
              <a:t>t</a:t>
            </a:r>
            <a:r>
              <a:rPr lang="fr-FR" dirty="0"/>
              <a:t>[i] représente l’élément d’indice i</a:t>
            </a:r>
          </a:p>
          <a:p>
            <a:r>
              <a:rPr lang="fr-FR" dirty="0" err="1"/>
              <a:t>len</a:t>
            </a:r>
            <a:r>
              <a:rPr lang="fr-FR" dirty="0"/>
              <a:t>(</a:t>
            </a:r>
            <a:r>
              <a:rPr lang="fr-FR" dirty="0" err="1"/>
              <a:t>t</a:t>
            </a:r>
            <a:r>
              <a:rPr lang="fr-FR" dirty="0"/>
              <a:t>) représente la taille de </a:t>
            </a:r>
            <a:r>
              <a:rPr lang="fr-FR" dirty="0" err="1"/>
              <a:t>t</a:t>
            </a:r>
            <a:r>
              <a:rPr lang="fr-FR" dirty="0"/>
              <a:t>. 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6023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7D1A21-EF3B-5EA2-D9DC-5319A947A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Tableaux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71D3D2-F59B-5483-C584-BDF7BAD4F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Exemple :</a:t>
            </a:r>
          </a:p>
          <a:p>
            <a:pPr marL="0" indent="0">
              <a:buNone/>
            </a:pPr>
            <a:r>
              <a:rPr lang="fr-FR" dirty="0" err="1"/>
              <a:t>t</a:t>
            </a:r>
            <a:r>
              <a:rPr lang="fr-FR" dirty="0"/>
              <a:t> =</a:t>
            </a:r>
          </a:p>
          <a:p>
            <a:r>
              <a:rPr lang="fr-FR" dirty="0"/>
              <a:t>Les éléments de </a:t>
            </a:r>
            <a:r>
              <a:rPr lang="fr-FR" dirty="0" err="1"/>
              <a:t>t</a:t>
            </a:r>
            <a:r>
              <a:rPr lang="fr-FR" dirty="0"/>
              <a:t> sont des entiers</a:t>
            </a:r>
          </a:p>
          <a:p>
            <a:r>
              <a:rPr lang="fr-FR" dirty="0"/>
              <a:t>Len(</a:t>
            </a:r>
            <a:r>
              <a:rPr lang="fr-FR" dirty="0" err="1"/>
              <a:t>t</a:t>
            </a:r>
            <a:r>
              <a:rPr lang="fr-FR" dirty="0"/>
              <a:t>)=5</a:t>
            </a:r>
          </a:p>
          <a:p>
            <a:r>
              <a:rPr lang="fr-FR" dirty="0"/>
              <a:t>t[0]=12, </a:t>
            </a:r>
            <a:r>
              <a:rPr lang="fr-FR" dirty="0" err="1"/>
              <a:t>t</a:t>
            </a:r>
            <a:r>
              <a:rPr lang="fr-FR" dirty="0"/>
              <a:t>[1]=32, </a:t>
            </a:r>
            <a:r>
              <a:rPr lang="fr-FR" dirty="0" err="1"/>
              <a:t>t</a:t>
            </a:r>
            <a:r>
              <a:rPr lang="fr-FR" dirty="0"/>
              <a:t>[2]=7, </a:t>
            </a:r>
            <a:r>
              <a:rPr lang="fr-FR" dirty="0" err="1"/>
              <a:t>t</a:t>
            </a:r>
            <a:r>
              <a:rPr lang="fr-FR" dirty="0"/>
              <a:t>[3]=23, </a:t>
            </a:r>
            <a:r>
              <a:rPr lang="fr-FR" dirty="0" err="1"/>
              <a:t>t</a:t>
            </a:r>
            <a:r>
              <a:rPr lang="fr-FR" dirty="0"/>
              <a:t>[4]=9</a:t>
            </a:r>
          </a:p>
          <a:p>
            <a:r>
              <a:rPr lang="fr-FR" dirty="0"/>
              <a:t>t[5] n’existe pas</a:t>
            </a:r>
          </a:p>
          <a:p>
            <a:pPr marL="0" indent="0">
              <a:buNone/>
            </a:pPr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AC82577F-AD3E-A671-D020-0933C6E92A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713769"/>
              </p:ext>
            </p:extLst>
          </p:nvPr>
        </p:nvGraphicFramePr>
        <p:xfrm>
          <a:off x="1506485" y="2369791"/>
          <a:ext cx="374869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738">
                  <a:extLst>
                    <a:ext uri="{9D8B030D-6E8A-4147-A177-3AD203B41FA5}">
                      <a16:colId xmlns:a16="http://schemas.microsoft.com/office/drawing/2014/main" val="2428685435"/>
                    </a:ext>
                  </a:extLst>
                </a:gridCol>
                <a:gridCol w="749738">
                  <a:extLst>
                    <a:ext uri="{9D8B030D-6E8A-4147-A177-3AD203B41FA5}">
                      <a16:colId xmlns:a16="http://schemas.microsoft.com/office/drawing/2014/main" val="4077065735"/>
                    </a:ext>
                  </a:extLst>
                </a:gridCol>
                <a:gridCol w="749738">
                  <a:extLst>
                    <a:ext uri="{9D8B030D-6E8A-4147-A177-3AD203B41FA5}">
                      <a16:colId xmlns:a16="http://schemas.microsoft.com/office/drawing/2014/main" val="3513407377"/>
                    </a:ext>
                  </a:extLst>
                </a:gridCol>
                <a:gridCol w="749738">
                  <a:extLst>
                    <a:ext uri="{9D8B030D-6E8A-4147-A177-3AD203B41FA5}">
                      <a16:colId xmlns:a16="http://schemas.microsoft.com/office/drawing/2014/main" val="2505454059"/>
                    </a:ext>
                  </a:extLst>
                </a:gridCol>
                <a:gridCol w="749738">
                  <a:extLst>
                    <a:ext uri="{9D8B030D-6E8A-4147-A177-3AD203B41FA5}">
                      <a16:colId xmlns:a16="http://schemas.microsoft.com/office/drawing/2014/main" val="33637159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440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731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1A05D6-638B-B26D-76A9-7417701BC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problèmes posés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7A0D49-BC07-0B20-BD55-2FF761BF2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b="1" dirty="0"/>
              <a:t>Recherche d’élément</a:t>
            </a:r>
          </a:p>
          <a:p>
            <a:pPr marL="0" indent="0">
              <a:buNone/>
            </a:pPr>
            <a:r>
              <a:rPr lang="fr-FR" dirty="0"/>
              <a:t>	Etant donné un tableau </a:t>
            </a:r>
            <a:r>
              <a:rPr lang="fr-FR" dirty="0" err="1"/>
              <a:t>t</a:t>
            </a:r>
            <a:r>
              <a:rPr lang="fr-FR" dirty="0"/>
              <a:t> et un entier x, dire si x appartient à </a:t>
            </a:r>
            <a:r>
              <a:rPr lang="fr-FR" dirty="0" err="1"/>
              <a:t>t</a:t>
            </a:r>
            <a:r>
              <a:rPr lang="fr-FR" dirty="0"/>
              <a:t> et,</a:t>
            </a:r>
          </a:p>
          <a:p>
            <a:pPr marL="0" indent="0">
              <a:buNone/>
            </a:pPr>
            <a:r>
              <a:rPr lang="fr-FR" dirty="0"/>
              <a:t>	si oui, donner un indice i tel que </a:t>
            </a:r>
            <a:r>
              <a:rPr lang="fr-FR" dirty="0" err="1"/>
              <a:t>t</a:t>
            </a:r>
            <a:r>
              <a:rPr lang="fr-FR" dirty="0"/>
              <a:t>[i] = x.</a:t>
            </a:r>
          </a:p>
          <a:p>
            <a:pPr marL="0" indent="0">
              <a:buNone/>
            </a:pPr>
            <a:r>
              <a:rPr lang="fr-FR" b="1" dirty="0"/>
              <a:t>Recherche de minimum</a:t>
            </a:r>
            <a:r>
              <a:rPr lang="fr-FR" dirty="0"/>
              <a:t>	</a:t>
            </a:r>
          </a:p>
          <a:p>
            <a:pPr marL="0" indent="0">
              <a:buNone/>
            </a:pPr>
            <a:r>
              <a:rPr lang="fr-FR" dirty="0"/>
              <a:t>	Trouver le plus petit entier dans un tableau </a:t>
            </a:r>
            <a:r>
              <a:rPr lang="fr-FR" dirty="0" err="1"/>
              <a:t>t</a:t>
            </a:r>
            <a:r>
              <a:rPr lang="fr-FR" dirty="0"/>
              <a:t>, c’est-à-dire trouver 	un indice </a:t>
            </a:r>
            <a:r>
              <a:rPr lang="fr-FR" dirty="0" err="1"/>
              <a:t>i</a:t>
            </a:r>
            <a:r>
              <a:rPr lang="fr-FR" baseline="-25000" dirty="0" err="1"/>
              <a:t>min</a:t>
            </a:r>
            <a:r>
              <a:rPr lang="fr-FR" dirty="0"/>
              <a:t> tel que pour tout i ∈[0, </a:t>
            </a:r>
            <a:r>
              <a:rPr lang="fr-FR" dirty="0" err="1"/>
              <a:t>len</a:t>
            </a:r>
            <a:r>
              <a:rPr lang="fr-FR" dirty="0"/>
              <a:t>(</a:t>
            </a:r>
            <a:r>
              <a:rPr lang="fr-FR" dirty="0" err="1"/>
              <a:t>t</a:t>
            </a:r>
            <a:r>
              <a:rPr lang="fr-FR" dirty="0"/>
              <a:t>)[ on a </a:t>
            </a:r>
            <a:r>
              <a:rPr lang="fr-FR" dirty="0" err="1"/>
              <a:t>t</a:t>
            </a:r>
            <a:r>
              <a:rPr lang="fr-FR" dirty="0"/>
              <a:t>[</a:t>
            </a:r>
            <a:r>
              <a:rPr lang="fr-FR" dirty="0" err="1"/>
              <a:t>i</a:t>
            </a:r>
            <a:r>
              <a:rPr lang="fr-FR" baseline="-25000" dirty="0" err="1"/>
              <a:t>min</a:t>
            </a:r>
            <a:r>
              <a:rPr lang="fr-FR" dirty="0"/>
              <a:t>] ≤</a:t>
            </a:r>
            <a:r>
              <a:rPr lang="fr-FR" dirty="0" err="1"/>
              <a:t>t</a:t>
            </a:r>
            <a:r>
              <a:rPr lang="fr-FR" dirty="0"/>
              <a:t>[i].</a:t>
            </a:r>
          </a:p>
          <a:p>
            <a:pPr marL="0" indent="0">
              <a:buNone/>
            </a:pPr>
            <a:r>
              <a:rPr lang="fr-FR" b="1" dirty="0"/>
              <a:t>Sélection d’éléments</a:t>
            </a:r>
          </a:p>
          <a:p>
            <a:pPr marL="0" indent="0">
              <a:buNone/>
            </a:pPr>
            <a:r>
              <a:rPr lang="fr-FR" dirty="0"/>
              <a:t>	 Etant donné un tableau </a:t>
            </a:r>
            <a:r>
              <a:rPr lang="fr-FR" dirty="0" err="1"/>
              <a:t>t</a:t>
            </a:r>
            <a:r>
              <a:rPr lang="fr-FR" dirty="0"/>
              <a:t> et un entier x, trouver tous les éléments</a:t>
            </a:r>
          </a:p>
          <a:p>
            <a:pPr marL="0" indent="0">
              <a:buNone/>
            </a:pPr>
            <a:r>
              <a:rPr lang="fr-FR" dirty="0"/>
              <a:t>	de </a:t>
            </a:r>
            <a:r>
              <a:rPr lang="fr-FR" dirty="0" err="1"/>
              <a:t>t</a:t>
            </a:r>
            <a:r>
              <a:rPr lang="fr-FR" dirty="0"/>
              <a:t> qui sont plus petits que x. On veut construire l’ensemble E tel</a:t>
            </a:r>
          </a:p>
          <a:p>
            <a:pPr marL="0" indent="0">
              <a:buNone/>
            </a:pPr>
            <a:r>
              <a:rPr lang="fr-FR" dirty="0"/>
              <a:t>	que y appartient à E si et seulement si y appartient à </a:t>
            </a:r>
            <a:r>
              <a:rPr lang="fr-FR" dirty="0" err="1"/>
              <a:t>t</a:t>
            </a:r>
            <a:r>
              <a:rPr lang="fr-FR" dirty="0"/>
              <a:t> et y ≤ x.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27002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3906DA-1351-962B-CE59-8F6D54F23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Exemples pratiques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92CBE5-1A8F-173D-E8A1-19F5D9D6A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Gestion d’une promotion d’étudiants</a:t>
            </a:r>
          </a:p>
          <a:p>
            <a:pPr lvl="1"/>
            <a:r>
              <a:rPr lang="fr-FR" dirty="0"/>
              <a:t>Savoir si un étudiant appartient à un groupe.</a:t>
            </a:r>
          </a:p>
          <a:p>
            <a:pPr lvl="1"/>
            <a:r>
              <a:rPr lang="fr-FR" dirty="0"/>
              <a:t>Trouver l’étudiant le plus jeune.</a:t>
            </a:r>
          </a:p>
          <a:p>
            <a:pPr lvl="1"/>
            <a:r>
              <a:rPr lang="fr-FR" dirty="0"/>
              <a:t>Lister les étudiants qui ont eu la moyenne.</a:t>
            </a:r>
          </a:p>
          <a:p>
            <a:pPr marL="0" indent="0">
              <a:buNone/>
            </a:pPr>
            <a:r>
              <a:rPr lang="fr-FR" b="1" dirty="0"/>
              <a:t>Gestion d’un ensemble de tâches à réaliser</a:t>
            </a:r>
          </a:p>
          <a:p>
            <a:pPr lvl="1"/>
            <a:r>
              <a:rPr lang="fr-FR" dirty="0"/>
              <a:t>Savoir si une tâche a déjà été réalisée.</a:t>
            </a:r>
          </a:p>
          <a:p>
            <a:pPr lvl="1"/>
            <a:r>
              <a:rPr lang="fr-FR" dirty="0"/>
              <a:t>Trouver la tâche la plus prioritaire.</a:t>
            </a:r>
          </a:p>
          <a:p>
            <a:pPr lvl="1"/>
            <a:r>
              <a:rPr lang="fr-FR" dirty="0"/>
              <a:t>Lister les tâches qu’il reste à réaliser.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53582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3C761B-EE31-1684-8C9B-1E9DACF62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Recherche d’élément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42F0F9-F7D1-B2AD-1A27-0AED519A5D5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b="1" dirty="0"/>
              <a:t>Problème :</a:t>
            </a:r>
          </a:p>
          <a:p>
            <a:pPr marL="0" indent="0">
              <a:buNone/>
            </a:pPr>
            <a:r>
              <a:rPr lang="fr-FR" dirty="0"/>
              <a:t>Etant donné un tableau </a:t>
            </a:r>
            <a:r>
              <a:rPr lang="fr-FR" dirty="0" err="1"/>
              <a:t>t</a:t>
            </a:r>
            <a:r>
              <a:rPr lang="fr-FR" dirty="0"/>
              <a:t> et un entier x, dire si x appartient à </a:t>
            </a:r>
            <a:r>
              <a:rPr lang="fr-FR" dirty="0" err="1"/>
              <a:t>t</a:t>
            </a:r>
            <a:r>
              <a:rPr lang="fr-FR" dirty="0"/>
              <a:t> et,</a:t>
            </a:r>
          </a:p>
          <a:p>
            <a:pPr marL="0" indent="0">
              <a:buNone/>
            </a:pPr>
            <a:r>
              <a:rPr lang="fr-FR" dirty="0"/>
              <a:t>si oui, donner un indice i tel que </a:t>
            </a:r>
            <a:r>
              <a:rPr lang="fr-FR" dirty="0" err="1"/>
              <a:t>t</a:t>
            </a:r>
            <a:r>
              <a:rPr lang="fr-FR" dirty="0"/>
              <a:t>[i] = x.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/>
              <a:t>Algorithme : </a:t>
            </a:r>
          </a:p>
          <a:p>
            <a:pPr marL="0" indent="0">
              <a:buNone/>
            </a:pPr>
            <a:r>
              <a:rPr lang="fr-FR" dirty="0"/>
              <a:t>Soit i = 0. </a:t>
            </a:r>
          </a:p>
          <a:p>
            <a:pPr marL="0" indent="0">
              <a:buNone/>
            </a:pPr>
            <a:r>
              <a:rPr lang="fr-FR" dirty="0"/>
              <a:t>Tant que i &lt; </a:t>
            </a:r>
            <a:r>
              <a:rPr lang="fr-FR" dirty="0" err="1"/>
              <a:t>len</a:t>
            </a:r>
            <a:r>
              <a:rPr lang="fr-FR" dirty="0"/>
              <a:t>(</a:t>
            </a:r>
            <a:r>
              <a:rPr lang="fr-FR" dirty="0" err="1"/>
              <a:t>t</a:t>
            </a:r>
            <a:r>
              <a:rPr lang="fr-FR" dirty="0"/>
              <a:t>), </a:t>
            </a:r>
          </a:p>
          <a:p>
            <a:pPr marL="0" indent="0">
              <a:buNone/>
            </a:pPr>
            <a:r>
              <a:rPr lang="fr-FR" dirty="0"/>
              <a:t>	si </a:t>
            </a:r>
            <a:r>
              <a:rPr lang="fr-FR" dirty="0" err="1"/>
              <a:t>t</a:t>
            </a:r>
            <a:r>
              <a:rPr lang="fr-FR" dirty="0"/>
              <a:t>[i] = x retourner (</a:t>
            </a:r>
            <a:r>
              <a:rPr lang="fr-FR" dirty="0" err="1"/>
              <a:t>true</a:t>
            </a:r>
            <a:r>
              <a:rPr lang="fr-FR" dirty="0"/>
              <a:t>, i) ,</a:t>
            </a:r>
          </a:p>
          <a:p>
            <a:pPr marL="0" indent="0">
              <a:buNone/>
            </a:pPr>
            <a:r>
              <a:rPr lang="fr-FR" dirty="0"/>
              <a:t>	sinon augmenter i de 1. </a:t>
            </a:r>
          </a:p>
          <a:p>
            <a:pPr marL="0" indent="0">
              <a:buNone/>
            </a:pPr>
            <a:r>
              <a:rPr lang="fr-FR" dirty="0"/>
              <a:t>Retourner (false,−1).</a:t>
            </a:r>
          </a:p>
          <a:p>
            <a:pPr marL="0" indent="0">
              <a:buNone/>
            </a:pPr>
            <a:r>
              <a:rPr lang="fr-FR" b="1" dirty="0"/>
              <a:t>Exemple :</a:t>
            </a:r>
          </a:p>
          <a:p>
            <a:pPr marL="0" indent="0">
              <a:buNone/>
            </a:pPr>
            <a:r>
              <a:rPr lang="fr-FR" dirty="0" err="1"/>
              <a:t>t</a:t>
            </a:r>
            <a:r>
              <a:rPr lang="fr-FR" dirty="0"/>
              <a:t> =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57749D7-4588-F966-A1C4-FDC6CDF687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dirty="0"/>
              <a:t>x = 7</a:t>
            </a:r>
          </a:p>
          <a:p>
            <a:pPr marL="0" indent="0">
              <a:buNone/>
            </a:pPr>
            <a:r>
              <a:rPr lang="fr-FR" dirty="0" err="1"/>
              <a:t>t</a:t>
            </a:r>
            <a:r>
              <a:rPr lang="fr-FR" dirty="0"/>
              <a:t>[i] = </a:t>
            </a:r>
            <a:r>
              <a:rPr lang="fr-FR" dirty="0" err="1"/>
              <a:t>t</a:t>
            </a:r>
            <a:r>
              <a:rPr lang="fr-FR" dirty="0"/>
              <a:t>[0] = 12 ≠ x, puis i = 1</a:t>
            </a:r>
          </a:p>
          <a:p>
            <a:pPr marL="0" indent="0">
              <a:buNone/>
            </a:pPr>
            <a:r>
              <a:rPr lang="fr-FR" dirty="0" err="1"/>
              <a:t>t</a:t>
            </a:r>
            <a:r>
              <a:rPr lang="fr-FR" dirty="0"/>
              <a:t>[i] = </a:t>
            </a:r>
            <a:r>
              <a:rPr lang="fr-FR" dirty="0" err="1"/>
              <a:t>t</a:t>
            </a:r>
            <a:r>
              <a:rPr lang="fr-FR" dirty="0"/>
              <a:t>[1] = 32 ≠ x, puis i = 2</a:t>
            </a:r>
          </a:p>
          <a:p>
            <a:pPr marL="0" indent="0">
              <a:buNone/>
            </a:pPr>
            <a:r>
              <a:rPr lang="fr-FR" dirty="0" err="1"/>
              <a:t>t</a:t>
            </a:r>
            <a:r>
              <a:rPr lang="fr-FR" dirty="0"/>
              <a:t>[i] = </a:t>
            </a:r>
            <a:r>
              <a:rPr lang="fr-FR" dirty="0" err="1"/>
              <a:t>t</a:t>
            </a:r>
            <a:r>
              <a:rPr lang="fr-FR" dirty="0"/>
              <a:t>[2] = 7 = x, retourne (true,2)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x=5</a:t>
            </a:r>
          </a:p>
          <a:p>
            <a:pPr marL="0" indent="0">
              <a:buNone/>
            </a:pPr>
            <a:r>
              <a:rPr lang="fr-FR" dirty="0" err="1"/>
              <a:t>t</a:t>
            </a:r>
            <a:r>
              <a:rPr lang="fr-FR" dirty="0"/>
              <a:t>[i] = </a:t>
            </a:r>
            <a:r>
              <a:rPr lang="fr-FR" dirty="0" err="1"/>
              <a:t>t</a:t>
            </a:r>
            <a:r>
              <a:rPr lang="fr-FR" dirty="0"/>
              <a:t>[0] = 12 ≠ x, puis i = 1</a:t>
            </a:r>
          </a:p>
          <a:p>
            <a:pPr marL="0" indent="0">
              <a:buNone/>
            </a:pPr>
            <a:r>
              <a:rPr lang="fr-FR" dirty="0"/>
              <a:t>2. </a:t>
            </a:r>
            <a:r>
              <a:rPr lang="fr-FR" dirty="0" err="1"/>
              <a:t>t</a:t>
            </a:r>
            <a:r>
              <a:rPr lang="fr-FR" dirty="0"/>
              <a:t>[i] = </a:t>
            </a:r>
            <a:r>
              <a:rPr lang="fr-FR" dirty="0" err="1"/>
              <a:t>t</a:t>
            </a:r>
            <a:r>
              <a:rPr lang="fr-FR" dirty="0"/>
              <a:t>[1] = 32 ≠ x, puis i = 2</a:t>
            </a:r>
          </a:p>
          <a:p>
            <a:pPr marL="0" indent="0">
              <a:buNone/>
            </a:pPr>
            <a:r>
              <a:rPr lang="fr-FR" dirty="0"/>
              <a:t>3. </a:t>
            </a:r>
            <a:r>
              <a:rPr lang="fr-FR" dirty="0" err="1"/>
              <a:t>t</a:t>
            </a:r>
            <a:r>
              <a:rPr lang="fr-FR" dirty="0"/>
              <a:t>[i] = </a:t>
            </a:r>
            <a:r>
              <a:rPr lang="fr-FR" dirty="0" err="1"/>
              <a:t>t</a:t>
            </a:r>
            <a:r>
              <a:rPr lang="fr-FR" dirty="0"/>
              <a:t>[2] = 7 ≠ x, puis i = 3</a:t>
            </a:r>
          </a:p>
          <a:p>
            <a:pPr marL="0" indent="0">
              <a:buNone/>
            </a:pPr>
            <a:r>
              <a:rPr lang="fr-FR" dirty="0"/>
              <a:t>4. </a:t>
            </a:r>
            <a:r>
              <a:rPr lang="fr-FR" dirty="0" err="1"/>
              <a:t>t</a:t>
            </a:r>
            <a:r>
              <a:rPr lang="fr-FR" dirty="0"/>
              <a:t>[i] = </a:t>
            </a:r>
            <a:r>
              <a:rPr lang="fr-FR" dirty="0" err="1"/>
              <a:t>t</a:t>
            </a:r>
            <a:r>
              <a:rPr lang="fr-FR" dirty="0"/>
              <a:t>[3] = 23 ≠ x, puis i = 4</a:t>
            </a:r>
          </a:p>
          <a:p>
            <a:pPr marL="0" indent="0">
              <a:buNone/>
            </a:pPr>
            <a:r>
              <a:rPr lang="fr-FR" dirty="0"/>
              <a:t>5. </a:t>
            </a:r>
            <a:r>
              <a:rPr lang="fr-FR" dirty="0" err="1"/>
              <a:t>t</a:t>
            </a:r>
            <a:r>
              <a:rPr lang="fr-FR" dirty="0"/>
              <a:t>[i] = </a:t>
            </a:r>
            <a:r>
              <a:rPr lang="fr-FR" dirty="0" err="1"/>
              <a:t>t</a:t>
            </a:r>
            <a:r>
              <a:rPr lang="fr-FR" dirty="0"/>
              <a:t>[4] = 9 ≠ x, puis i = 5</a:t>
            </a:r>
          </a:p>
          <a:p>
            <a:pPr marL="0" indent="0">
              <a:buNone/>
            </a:pPr>
            <a:r>
              <a:rPr lang="fr-FR" dirty="0"/>
              <a:t>6. i ≥</a:t>
            </a:r>
            <a:r>
              <a:rPr lang="fr-FR" dirty="0" err="1"/>
              <a:t>len</a:t>
            </a:r>
            <a:r>
              <a:rPr lang="fr-FR" dirty="0"/>
              <a:t>(</a:t>
            </a:r>
            <a:r>
              <a:rPr lang="fr-FR" dirty="0" err="1"/>
              <a:t>t</a:t>
            </a:r>
            <a:r>
              <a:rPr lang="fr-FR" dirty="0"/>
              <a:t>), retourne (false,−1)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E15BB467-BBE1-C272-DDC2-370DCD40BD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226877"/>
              </p:ext>
            </p:extLst>
          </p:nvPr>
        </p:nvGraphicFramePr>
        <p:xfrm>
          <a:off x="1285768" y="5728138"/>
          <a:ext cx="374869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738">
                  <a:extLst>
                    <a:ext uri="{9D8B030D-6E8A-4147-A177-3AD203B41FA5}">
                      <a16:colId xmlns:a16="http://schemas.microsoft.com/office/drawing/2014/main" val="2428685435"/>
                    </a:ext>
                  </a:extLst>
                </a:gridCol>
                <a:gridCol w="749738">
                  <a:extLst>
                    <a:ext uri="{9D8B030D-6E8A-4147-A177-3AD203B41FA5}">
                      <a16:colId xmlns:a16="http://schemas.microsoft.com/office/drawing/2014/main" val="4077065735"/>
                    </a:ext>
                  </a:extLst>
                </a:gridCol>
                <a:gridCol w="749738">
                  <a:extLst>
                    <a:ext uri="{9D8B030D-6E8A-4147-A177-3AD203B41FA5}">
                      <a16:colId xmlns:a16="http://schemas.microsoft.com/office/drawing/2014/main" val="3513407377"/>
                    </a:ext>
                  </a:extLst>
                </a:gridCol>
                <a:gridCol w="749738">
                  <a:extLst>
                    <a:ext uri="{9D8B030D-6E8A-4147-A177-3AD203B41FA5}">
                      <a16:colId xmlns:a16="http://schemas.microsoft.com/office/drawing/2014/main" val="2505454059"/>
                    </a:ext>
                  </a:extLst>
                </a:gridCol>
                <a:gridCol w="749738">
                  <a:extLst>
                    <a:ext uri="{9D8B030D-6E8A-4147-A177-3AD203B41FA5}">
                      <a16:colId xmlns:a16="http://schemas.microsoft.com/office/drawing/2014/main" val="3363715900"/>
                    </a:ext>
                  </a:extLst>
                </a:gridCol>
              </a:tblGrid>
              <a:tr h="333761">
                <a:tc>
                  <a:txBody>
                    <a:bodyPr/>
                    <a:lstStyle/>
                    <a:p>
                      <a:r>
                        <a:rPr lang="fr-FR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440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991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E64619-D2A9-9705-B7DA-EB4060C5A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Recherche d’élément en go dans un tableau v1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135F9870-21A2-912E-07D3-19D835862B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package </a:t>
            </a:r>
            <a:r>
              <a:rPr lang="fr-FR" dirty="0">
                <a:solidFill>
                  <a:srgbClr val="805900"/>
                </a:solidFill>
                <a:effectLst/>
                <a:latin typeface="JetBrains Mono"/>
              </a:rPr>
              <a:t>main</a:t>
            </a:r>
            <a:br>
              <a:rPr lang="fr-FR" dirty="0">
                <a:solidFill>
                  <a:srgbClr val="805900"/>
                </a:solidFill>
                <a:effectLst/>
                <a:latin typeface="JetBrains Mono"/>
              </a:rPr>
            </a:br>
            <a:br>
              <a:rPr lang="fr-FR" dirty="0">
                <a:solidFill>
                  <a:srgbClr val="805900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lang="fr-FR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fr-FR" dirty="0" err="1">
                <a:solidFill>
                  <a:srgbClr val="067D17"/>
                </a:solidFill>
                <a:effectLst/>
                <a:latin typeface="JetBrains Mono"/>
              </a:rPr>
              <a:t>fmt</a:t>
            </a:r>
            <a:r>
              <a:rPr lang="fr-FR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br>
              <a:rPr lang="fr-FR" dirty="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fr-FR" dirty="0" err="1">
                <a:solidFill>
                  <a:srgbClr val="067D17"/>
                </a:solidFill>
                <a:effectLst/>
                <a:latin typeface="JetBrains Mono"/>
              </a:rPr>
              <a:t>func</a:t>
            </a:r>
            <a:r>
              <a:rPr lang="fr-FR" dirty="0"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lang="fr-FR" dirty="0" err="1">
                <a:solidFill>
                  <a:srgbClr val="067D17"/>
                </a:solidFill>
                <a:effectLst/>
                <a:latin typeface="JetBrains Mono"/>
              </a:rPr>
              <a:t>rechercheElement</a:t>
            </a:r>
            <a:r>
              <a:rPr lang="fr-FR" dirty="0">
                <a:solidFill>
                  <a:srgbClr val="067D17"/>
                </a:solidFill>
                <a:effectLst/>
                <a:latin typeface="JetBrains Mono"/>
              </a:rPr>
              <a:t>(</a:t>
            </a:r>
            <a:r>
              <a:rPr lang="fr-FR" dirty="0" err="1">
                <a:solidFill>
                  <a:srgbClr val="067D17"/>
                </a:solidFill>
                <a:effectLst/>
                <a:latin typeface="JetBrains Mono"/>
              </a:rPr>
              <a:t>t</a:t>
            </a:r>
            <a:r>
              <a:rPr lang="fr-FR" dirty="0">
                <a:solidFill>
                  <a:srgbClr val="067D17"/>
                </a:solidFill>
                <a:effectLst/>
                <a:latin typeface="JetBrains Mono"/>
              </a:rPr>
              <a:t> [5]</a:t>
            </a:r>
            <a:r>
              <a:rPr lang="fr-FR" dirty="0" err="1">
                <a:solidFill>
                  <a:srgbClr val="067D17"/>
                </a:solidFill>
                <a:effectLst/>
                <a:latin typeface="JetBrains Mono"/>
              </a:rPr>
              <a:t>int</a:t>
            </a:r>
            <a:r>
              <a:rPr lang="fr-FR" dirty="0">
                <a:solidFill>
                  <a:srgbClr val="067D17"/>
                </a:solidFill>
                <a:effectLst/>
                <a:latin typeface="JetBrains Mono"/>
              </a:rPr>
              <a:t>, x </a:t>
            </a:r>
            <a:r>
              <a:rPr lang="fr-FR" dirty="0" err="1">
                <a:solidFill>
                  <a:srgbClr val="067D17"/>
                </a:solidFill>
                <a:effectLst/>
                <a:latin typeface="JetBrains Mono"/>
              </a:rPr>
              <a:t>int</a:t>
            </a:r>
            <a:r>
              <a:rPr lang="fr-FR" dirty="0">
                <a:solidFill>
                  <a:srgbClr val="067D17"/>
                </a:solidFill>
                <a:effectLst/>
                <a:latin typeface="JetBrains Mono"/>
              </a:rPr>
              <a:t>) (</a:t>
            </a:r>
            <a:r>
              <a:rPr lang="fr-FR" dirty="0" err="1">
                <a:solidFill>
                  <a:srgbClr val="067D17"/>
                </a:solidFill>
                <a:effectLst/>
                <a:latin typeface="JetBrains Mono"/>
              </a:rPr>
              <a:t>bool</a:t>
            </a:r>
            <a:r>
              <a:rPr lang="fr-FR" dirty="0">
                <a:solidFill>
                  <a:srgbClr val="067D17"/>
                </a:solidFill>
                <a:effectLst/>
                <a:latin typeface="JetBrains Mono"/>
              </a:rPr>
              <a:t>, </a:t>
            </a:r>
            <a:r>
              <a:rPr lang="fr-FR" dirty="0" err="1">
                <a:solidFill>
                  <a:srgbClr val="067D17"/>
                </a:solidFill>
                <a:effectLst/>
                <a:latin typeface="JetBrains Mono"/>
              </a:rPr>
              <a:t>int</a:t>
            </a:r>
            <a:r>
              <a:rPr lang="fr-FR" dirty="0">
                <a:solidFill>
                  <a:srgbClr val="067D17"/>
                </a:solidFill>
                <a:effectLst/>
                <a:latin typeface="JetBrains Mono"/>
              </a:rPr>
              <a:t>) {</a:t>
            </a:r>
            <a:br>
              <a:rPr lang="fr-FR" dirty="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67D17"/>
                </a:solidFill>
                <a:effectLst/>
                <a:latin typeface="JetBrains Mono"/>
              </a:rPr>
              <a:t>    var i </a:t>
            </a:r>
            <a:r>
              <a:rPr lang="fr-FR" dirty="0" err="1">
                <a:solidFill>
                  <a:srgbClr val="067D17"/>
                </a:solidFill>
                <a:effectLst/>
                <a:latin typeface="JetBrains Mono"/>
              </a:rPr>
              <a:t>int</a:t>
            </a:r>
            <a:br>
              <a:rPr lang="fr-FR" dirty="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67D17"/>
                </a:solidFill>
                <a:effectLst/>
                <a:latin typeface="JetBrains Mono"/>
              </a:rPr>
              <a:t>    i = 0</a:t>
            </a:r>
            <a:br>
              <a:rPr lang="fr-FR" dirty="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67D17"/>
                </a:solidFill>
                <a:effectLst/>
                <a:latin typeface="JetBrains Mono"/>
              </a:rPr>
              <a:t>    for i &lt; </a:t>
            </a:r>
            <a:r>
              <a:rPr lang="fr-FR" dirty="0" err="1">
                <a:solidFill>
                  <a:srgbClr val="067D17"/>
                </a:solidFill>
                <a:effectLst/>
                <a:latin typeface="JetBrains Mono"/>
              </a:rPr>
              <a:t>len</a:t>
            </a:r>
            <a:r>
              <a:rPr lang="fr-FR" dirty="0">
                <a:solidFill>
                  <a:srgbClr val="067D17"/>
                </a:solidFill>
                <a:effectLst/>
                <a:latin typeface="JetBrains Mono"/>
              </a:rPr>
              <a:t>(</a:t>
            </a:r>
            <a:r>
              <a:rPr lang="fr-FR" dirty="0" err="1">
                <a:solidFill>
                  <a:srgbClr val="067D17"/>
                </a:solidFill>
                <a:effectLst/>
                <a:latin typeface="JetBrains Mono"/>
              </a:rPr>
              <a:t>t</a:t>
            </a:r>
            <a:r>
              <a:rPr lang="fr-FR" dirty="0">
                <a:solidFill>
                  <a:srgbClr val="067D17"/>
                </a:solidFill>
                <a:effectLst/>
                <a:latin typeface="JetBrains Mono"/>
              </a:rPr>
              <a:t>) {</a:t>
            </a:r>
            <a:br>
              <a:rPr lang="fr-FR" dirty="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67D17"/>
                </a:solidFill>
                <a:effectLst/>
                <a:latin typeface="JetBrains Mono"/>
              </a:rPr>
              <a:t>       if </a:t>
            </a:r>
            <a:r>
              <a:rPr lang="fr-FR" dirty="0" err="1">
                <a:solidFill>
                  <a:srgbClr val="067D17"/>
                </a:solidFill>
                <a:effectLst/>
                <a:latin typeface="JetBrains Mono"/>
              </a:rPr>
              <a:t>t</a:t>
            </a:r>
            <a:r>
              <a:rPr lang="fr-FR" dirty="0">
                <a:solidFill>
                  <a:srgbClr val="067D17"/>
                </a:solidFill>
                <a:effectLst/>
                <a:latin typeface="JetBrains Mono"/>
              </a:rPr>
              <a:t>[i] == x {</a:t>
            </a:r>
            <a:br>
              <a:rPr lang="fr-FR" dirty="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67D17"/>
                </a:solidFill>
                <a:effectLst/>
                <a:latin typeface="JetBrains Mono"/>
              </a:rPr>
              <a:t>          return </a:t>
            </a:r>
            <a:r>
              <a:rPr lang="fr-FR" dirty="0" err="1">
                <a:solidFill>
                  <a:srgbClr val="067D17"/>
                </a:solidFill>
                <a:effectLst/>
                <a:latin typeface="JetBrains Mono"/>
              </a:rPr>
              <a:t>true</a:t>
            </a:r>
            <a:r>
              <a:rPr lang="fr-FR" dirty="0">
                <a:solidFill>
                  <a:srgbClr val="067D17"/>
                </a:solidFill>
                <a:effectLst/>
                <a:latin typeface="JetBrains Mono"/>
              </a:rPr>
              <a:t>, i</a:t>
            </a:r>
            <a:br>
              <a:rPr lang="fr-FR" dirty="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67D17"/>
                </a:solidFill>
                <a:effectLst/>
                <a:latin typeface="JetBrains Mono"/>
              </a:rPr>
              <a:t>       }</a:t>
            </a:r>
            <a:br>
              <a:rPr lang="fr-FR" dirty="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67D17"/>
                </a:solidFill>
                <a:effectLst/>
                <a:latin typeface="JetBrains Mono"/>
              </a:rPr>
              <a:t>       i++</a:t>
            </a:r>
            <a:br>
              <a:rPr lang="fr-FR" dirty="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67D17"/>
                </a:solidFill>
                <a:effectLst/>
                <a:latin typeface="JetBrains Mono"/>
              </a:rPr>
              <a:t>    }</a:t>
            </a:r>
            <a:br>
              <a:rPr lang="fr-FR" dirty="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67D17"/>
                </a:solidFill>
                <a:effectLst/>
                <a:latin typeface="JetBrains Mono"/>
              </a:rPr>
              <a:t>    return false, -1</a:t>
            </a:r>
            <a:br>
              <a:rPr lang="fr-FR" dirty="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67D17"/>
                </a:solidFill>
                <a:effectLst/>
                <a:latin typeface="JetBrains Mono"/>
              </a:rPr>
              <a:t>}</a:t>
            </a:r>
          </a:p>
          <a:p>
            <a:pPr>
              <a:buNone/>
            </a:pP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endParaRPr lang="fr-FR" dirty="0">
              <a:solidFill>
                <a:srgbClr val="080808"/>
              </a:solidFill>
              <a:effectLst/>
              <a:latin typeface="JetBrains Mono"/>
            </a:endParaRP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E971636-25E4-10F7-CF9B-FBC7C158120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dirty="0" err="1">
                <a:solidFill>
                  <a:srgbClr val="0033B3"/>
                </a:solidFill>
                <a:latin typeface="JetBrains Mono"/>
              </a:rPr>
              <a:t>func</a:t>
            </a:r>
            <a:r>
              <a:rPr lang="fr-FR" dirty="0">
                <a:solidFill>
                  <a:srgbClr val="0033B3"/>
                </a:solidFill>
                <a:latin typeface="JetBrains Mono"/>
              </a:rPr>
              <a:t> </a:t>
            </a:r>
            <a:r>
              <a:rPr lang="fr-FR" dirty="0">
                <a:solidFill>
                  <a:srgbClr val="286D73"/>
                </a:solidFill>
                <a:latin typeface="JetBrains Mono"/>
              </a:rPr>
              <a:t>main</a:t>
            </a:r>
            <a:r>
              <a:rPr lang="fr-FR" dirty="0">
                <a:solidFill>
                  <a:srgbClr val="080808"/>
                </a:solidFill>
                <a:latin typeface="JetBrains Mono"/>
              </a:rPr>
              <a:t>() {</a:t>
            </a:r>
            <a:br>
              <a:rPr lang="fr-FR" dirty="0">
                <a:solidFill>
                  <a:srgbClr val="080808"/>
                </a:solidFill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fr-FR" dirty="0">
                <a:solidFill>
                  <a:srgbClr val="0033B3"/>
                </a:solidFill>
                <a:latin typeface="JetBrains Mono"/>
              </a:rPr>
              <a:t>var </a:t>
            </a:r>
            <a:r>
              <a:rPr lang="fr-FR" dirty="0" err="1">
                <a:solidFill>
                  <a:srgbClr val="000000"/>
                </a:solidFill>
                <a:latin typeface="JetBrains Mono"/>
              </a:rPr>
              <a:t>t</a:t>
            </a:r>
            <a:r>
              <a:rPr lang="fr-FR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fr-FR" dirty="0">
                <a:solidFill>
                  <a:srgbClr val="080808"/>
                </a:solidFill>
                <a:latin typeface="JetBrains Mono"/>
              </a:rPr>
              <a:t>[</a:t>
            </a:r>
            <a:r>
              <a:rPr lang="fr-FR" dirty="0">
                <a:solidFill>
                  <a:srgbClr val="1750EB"/>
                </a:solidFill>
                <a:latin typeface="JetBrains Mono"/>
              </a:rPr>
              <a:t>5</a:t>
            </a:r>
            <a:r>
              <a:rPr lang="fr-FR" dirty="0">
                <a:solidFill>
                  <a:srgbClr val="080808"/>
                </a:solidFill>
                <a:latin typeface="JetBrains Mono"/>
              </a:rPr>
              <a:t>]</a:t>
            </a:r>
            <a:r>
              <a:rPr lang="fr-FR" dirty="0" err="1">
                <a:solidFill>
                  <a:srgbClr val="0033B3"/>
                </a:solidFill>
                <a:latin typeface="JetBrains Mono"/>
              </a:rPr>
              <a:t>int</a:t>
            </a:r>
            <a:br>
              <a:rPr lang="fr-FR" dirty="0">
                <a:solidFill>
                  <a:srgbClr val="0033B3"/>
                </a:solidFill>
                <a:latin typeface="JetBrains Mono"/>
              </a:rPr>
            </a:br>
            <a:r>
              <a:rPr lang="fr-FR" dirty="0">
                <a:solidFill>
                  <a:srgbClr val="0033B3"/>
                </a:solidFill>
                <a:latin typeface="JetBrains Mono"/>
              </a:rPr>
              <a:t>    </a:t>
            </a:r>
            <a:r>
              <a:rPr lang="fr-FR" dirty="0" err="1">
                <a:solidFill>
                  <a:srgbClr val="000000"/>
                </a:solidFill>
                <a:latin typeface="JetBrains Mono"/>
              </a:rPr>
              <a:t>t</a:t>
            </a:r>
            <a:r>
              <a:rPr lang="fr-FR" dirty="0">
                <a:solidFill>
                  <a:srgbClr val="080808"/>
                </a:solidFill>
                <a:latin typeface="JetBrains Mono"/>
              </a:rPr>
              <a:t>[</a:t>
            </a:r>
            <a:r>
              <a:rPr lang="fr-FR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fr-FR" dirty="0">
                <a:solidFill>
                  <a:srgbClr val="080808"/>
                </a:solidFill>
                <a:latin typeface="JetBrains Mono"/>
              </a:rPr>
              <a:t>] = </a:t>
            </a:r>
            <a:r>
              <a:rPr lang="fr-FR" dirty="0">
                <a:solidFill>
                  <a:srgbClr val="1750EB"/>
                </a:solidFill>
                <a:latin typeface="JetBrains Mono"/>
              </a:rPr>
              <a:t>12</a:t>
            </a:r>
            <a:br>
              <a:rPr lang="fr-FR" dirty="0">
                <a:solidFill>
                  <a:srgbClr val="1750EB"/>
                </a:solidFill>
                <a:latin typeface="JetBrains Mono"/>
              </a:rPr>
            </a:br>
            <a:r>
              <a:rPr lang="fr-FR" dirty="0">
                <a:solidFill>
                  <a:srgbClr val="1750EB"/>
                </a:solidFill>
                <a:latin typeface="JetBrains Mono"/>
              </a:rPr>
              <a:t>    </a:t>
            </a:r>
            <a:r>
              <a:rPr lang="fr-FR" dirty="0" err="1">
                <a:solidFill>
                  <a:srgbClr val="000000"/>
                </a:solidFill>
                <a:latin typeface="JetBrains Mono"/>
              </a:rPr>
              <a:t>t</a:t>
            </a:r>
            <a:r>
              <a:rPr lang="fr-FR" dirty="0">
                <a:solidFill>
                  <a:srgbClr val="080808"/>
                </a:solidFill>
                <a:latin typeface="JetBrains Mono"/>
              </a:rPr>
              <a:t>[</a:t>
            </a:r>
            <a:r>
              <a:rPr lang="fr-FR" dirty="0">
                <a:solidFill>
                  <a:srgbClr val="1750EB"/>
                </a:solidFill>
                <a:latin typeface="JetBrains Mono"/>
              </a:rPr>
              <a:t>1</a:t>
            </a:r>
            <a:r>
              <a:rPr lang="fr-FR" dirty="0">
                <a:solidFill>
                  <a:srgbClr val="080808"/>
                </a:solidFill>
                <a:latin typeface="JetBrains Mono"/>
              </a:rPr>
              <a:t>] = </a:t>
            </a:r>
            <a:r>
              <a:rPr lang="fr-FR" dirty="0">
                <a:solidFill>
                  <a:srgbClr val="1750EB"/>
                </a:solidFill>
                <a:latin typeface="JetBrains Mono"/>
              </a:rPr>
              <a:t>32</a:t>
            </a:r>
            <a:br>
              <a:rPr lang="fr-FR" dirty="0">
                <a:solidFill>
                  <a:srgbClr val="1750EB"/>
                </a:solidFill>
                <a:latin typeface="JetBrains Mono"/>
              </a:rPr>
            </a:br>
            <a:r>
              <a:rPr lang="fr-FR" dirty="0">
                <a:solidFill>
                  <a:srgbClr val="1750EB"/>
                </a:solidFill>
                <a:latin typeface="JetBrains Mono"/>
              </a:rPr>
              <a:t>    </a:t>
            </a:r>
            <a:r>
              <a:rPr lang="fr-FR" dirty="0" err="1">
                <a:solidFill>
                  <a:srgbClr val="000000"/>
                </a:solidFill>
                <a:latin typeface="JetBrains Mono"/>
              </a:rPr>
              <a:t>t</a:t>
            </a:r>
            <a:r>
              <a:rPr lang="fr-FR" dirty="0">
                <a:solidFill>
                  <a:srgbClr val="080808"/>
                </a:solidFill>
                <a:latin typeface="JetBrains Mono"/>
              </a:rPr>
              <a:t>[</a:t>
            </a:r>
            <a:r>
              <a:rPr lang="fr-FR" dirty="0">
                <a:solidFill>
                  <a:srgbClr val="1750EB"/>
                </a:solidFill>
                <a:latin typeface="JetBrains Mono"/>
              </a:rPr>
              <a:t>2</a:t>
            </a:r>
            <a:r>
              <a:rPr lang="fr-FR" dirty="0">
                <a:solidFill>
                  <a:srgbClr val="080808"/>
                </a:solidFill>
                <a:latin typeface="JetBrains Mono"/>
              </a:rPr>
              <a:t>] = </a:t>
            </a:r>
            <a:r>
              <a:rPr lang="fr-FR" dirty="0">
                <a:solidFill>
                  <a:srgbClr val="1750EB"/>
                </a:solidFill>
                <a:latin typeface="JetBrains Mono"/>
              </a:rPr>
              <a:t>7</a:t>
            </a:r>
            <a:br>
              <a:rPr lang="fr-FR" dirty="0">
                <a:solidFill>
                  <a:srgbClr val="1750EB"/>
                </a:solidFill>
                <a:latin typeface="JetBrains Mono"/>
              </a:rPr>
            </a:br>
            <a:r>
              <a:rPr lang="fr-FR" dirty="0">
                <a:solidFill>
                  <a:srgbClr val="1750EB"/>
                </a:solidFill>
                <a:latin typeface="JetBrains Mono"/>
              </a:rPr>
              <a:t>    </a:t>
            </a:r>
            <a:r>
              <a:rPr lang="fr-FR" dirty="0" err="1">
                <a:solidFill>
                  <a:srgbClr val="000000"/>
                </a:solidFill>
                <a:latin typeface="JetBrains Mono"/>
              </a:rPr>
              <a:t>t</a:t>
            </a:r>
            <a:r>
              <a:rPr lang="fr-FR" dirty="0">
                <a:solidFill>
                  <a:srgbClr val="080808"/>
                </a:solidFill>
                <a:latin typeface="JetBrains Mono"/>
              </a:rPr>
              <a:t>[</a:t>
            </a:r>
            <a:r>
              <a:rPr lang="fr-FR" dirty="0">
                <a:solidFill>
                  <a:srgbClr val="1750EB"/>
                </a:solidFill>
                <a:latin typeface="JetBrains Mono"/>
              </a:rPr>
              <a:t>3</a:t>
            </a:r>
            <a:r>
              <a:rPr lang="fr-FR" dirty="0">
                <a:solidFill>
                  <a:srgbClr val="080808"/>
                </a:solidFill>
                <a:latin typeface="JetBrains Mono"/>
              </a:rPr>
              <a:t>] = </a:t>
            </a:r>
            <a:r>
              <a:rPr lang="fr-FR" dirty="0">
                <a:solidFill>
                  <a:srgbClr val="1750EB"/>
                </a:solidFill>
                <a:latin typeface="JetBrains Mono"/>
              </a:rPr>
              <a:t>23</a:t>
            </a:r>
            <a:br>
              <a:rPr lang="fr-FR" dirty="0">
                <a:solidFill>
                  <a:srgbClr val="1750EB"/>
                </a:solidFill>
                <a:latin typeface="JetBrains Mono"/>
              </a:rPr>
            </a:br>
            <a:r>
              <a:rPr lang="fr-FR" dirty="0">
                <a:solidFill>
                  <a:srgbClr val="1750EB"/>
                </a:solidFill>
                <a:latin typeface="JetBrains Mono"/>
              </a:rPr>
              <a:t>    </a:t>
            </a:r>
            <a:r>
              <a:rPr lang="fr-FR" dirty="0" err="1">
                <a:solidFill>
                  <a:srgbClr val="000000"/>
                </a:solidFill>
                <a:latin typeface="JetBrains Mono"/>
              </a:rPr>
              <a:t>t</a:t>
            </a:r>
            <a:r>
              <a:rPr lang="fr-FR" dirty="0">
                <a:solidFill>
                  <a:srgbClr val="080808"/>
                </a:solidFill>
                <a:latin typeface="JetBrains Mono"/>
              </a:rPr>
              <a:t>[</a:t>
            </a:r>
            <a:r>
              <a:rPr lang="fr-FR" dirty="0">
                <a:solidFill>
                  <a:srgbClr val="1750EB"/>
                </a:solidFill>
                <a:latin typeface="JetBrains Mono"/>
              </a:rPr>
              <a:t>4</a:t>
            </a:r>
            <a:r>
              <a:rPr lang="fr-FR" dirty="0">
                <a:solidFill>
                  <a:srgbClr val="080808"/>
                </a:solidFill>
                <a:latin typeface="JetBrains Mono"/>
              </a:rPr>
              <a:t>] = </a:t>
            </a:r>
            <a:r>
              <a:rPr lang="fr-FR" dirty="0">
                <a:solidFill>
                  <a:srgbClr val="1750EB"/>
                </a:solidFill>
                <a:latin typeface="JetBrains Mono"/>
              </a:rPr>
              <a:t>9</a:t>
            </a:r>
            <a:br>
              <a:rPr lang="fr-FR" dirty="0">
                <a:solidFill>
                  <a:srgbClr val="1750EB"/>
                </a:solidFill>
                <a:latin typeface="JetBrains Mono"/>
              </a:rPr>
            </a:br>
            <a:r>
              <a:rPr lang="fr-FR" dirty="0">
                <a:solidFill>
                  <a:srgbClr val="1750EB"/>
                </a:solidFill>
                <a:latin typeface="JetBrains Mono"/>
              </a:rPr>
              <a:t>    </a:t>
            </a:r>
            <a:r>
              <a:rPr lang="fr-FR" dirty="0" err="1">
                <a:solidFill>
                  <a:srgbClr val="805900"/>
                </a:solidFill>
                <a:latin typeface="JetBrains Mono"/>
              </a:rPr>
              <a:t>fmt</a:t>
            </a:r>
            <a:r>
              <a:rPr lang="fr-FR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fr-FR" dirty="0" err="1">
                <a:solidFill>
                  <a:srgbClr val="36666B"/>
                </a:solidFill>
                <a:latin typeface="JetBrains Mono"/>
              </a:rPr>
              <a:t>Println</a:t>
            </a:r>
            <a:r>
              <a:rPr lang="fr-FR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fr-FR" dirty="0" err="1">
                <a:solidFill>
                  <a:srgbClr val="36666B"/>
                </a:solidFill>
                <a:latin typeface="JetBrains Mono"/>
              </a:rPr>
              <a:t>rechercheElement</a:t>
            </a:r>
            <a:r>
              <a:rPr lang="fr-FR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fr-FR" dirty="0" err="1">
                <a:solidFill>
                  <a:srgbClr val="000000"/>
                </a:solidFill>
                <a:latin typeface="JetBrains Mono"/>
              </a:rPr>
              <a:t>t</a:t>
            </a:r>
            <a:r>
              <a:rPr lang="fr-FR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fr-FR" dirty="0">
                <a:solidFill>
                  <a:srgbClr val="1750EB"/>
                </a:solidFill>
                <a:latin typeface="JetBrains Mono"/>
              </a:rPr>
              <a:t>7</a:t>
            </a:r>
            <a:r>
              <a:rPr lang="fr-FR" dirty="0">
                <a:solidFill>
                  <a:srgbClr val="080808"/>
                </a:solidFill>
                <a:latin typeface="JetBrains Mono"/>
              </a:rPr>
              <a:t>))</a:t>
            </a:r>
            <a:br>
              <a:rPr lang="fr-FR" dirty="0">
                <a:solidFill>
                  <a:srgbClr val="080808"/>
                </a:solidFill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fr-FR" dirty="0" err="1">
                <a:solidFill>
                  <a:srgbClr val="805900"/>
                </a:solidFill>
                <a:latin typeface="JetBrains Mono"/>
              </a:rPr>
              <a:t>fmt</a:t>
            </a:r>
            <a:r>
              <a:rPr lang="fr-FR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fr-FR" dirty="0" err="1">
                <a:solidFill>
                  <a:srgbClr val="36666B"/>
                </a:solidFill>
                <a:latin typeface="JetBrains Mono"/>
              </a:rPr>
              <a:t>Println</a:t>
            </a:r>
            <a:r>
              <a:rPr lang="fr-FR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fr-FR" dirty="0" err="1">
                <a:solidFill>
                  <a:srgbClr val="36666B"/>
                </a:solidFill>
                <a:latin typeface="JetBrains Mono"/>
              </a:rPr>
              <a:t>rechercheElement</a:t>
            </a:r>
            <a:r>
              <a:rPr lang="fr-FR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fr-FR" dirty="0" err="1">
                <a:solidFill>
                  <a:srgbClr val="000000"/>
                </a:solidFill>
                <a:latin typeface="JetBrains Mono"/>
              </a:rPr>
              <a:t>t</a:t>
            </a:r>
            <a:r>
              <a:rPr lang="fr-FR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fr-FR" dirty="0">
                <a:solidFill>
                  <a:srgbClr val="1750EB"/>
                </a:solidFill>
                <a:latin typeface="JetBrains Mono"/>
              </a:rPr>
              <a:t>5</a:t>
            </a:r>
            <a:r>
              <a:rPr lang="fr-FR" dirty="0">
                <a:solidFill>
                  <a:srgbClr val="080808"/>
                </a:solidFill>
                <a:latin typeface="JetBrains Mono"/>
              </a:rPr>
              <a:t>))</a:t>
            </a:r>
            <a:br>
              <a:rPr lang="fr-FR" dirty="0">
                <a:solidFill>
                  <a:srgbClr val="080808"/>
                </a:solidFill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latin typeface="JetBrains Mono"/>
              </a:rPr>
              <a:t>}</a:t>
            </a:r>
            <a:br>
              <a:rPr lang="fr-FR" dirty="0">
                <a:solidFill>
                  <a:srgbClr val="080808"/>
                </a:solidFill>
                <a:latin typeface="JetBrains Mono"/>
              </a:rPr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69656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D21B9-9D79-86DB-223C-538691118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C97801-4C92-C67E-29E7-482FDD123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Recherche d’élément en go dans un tableau v2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9D8AD599-D930-0E72-4ED7-08E09A3BD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package </a:t>
            </a:r>
            <a:r>
              <a:rPr lang="fr-FR" dirty="0">
                <a:solidFill>
                  <a:srgbClr val="805900"/>
                </a:solidFill>
                <a:effectLst/>
                <a:latin typeface="JetBrains Mono"/>
              </a:rPr>
              <a:t>main</a:t>
            </a:r>
            <a:br>
              <a:rPr lang="fr-FR" dirty="0">
                <a:solidFill>
                  <a:srgbClr val="805900"/>
                </a:solidFill>
                <a:effectLst/>
                <a:latin typeface="JetBrains Mono"/>
              </a:rPr>
            </a:br>
            <a:br>
              <a:rPr lang="fr-FR" dirty="0">
                <a:solidFill>
                  <a:srgbClr val="805900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lang="fr-FR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fr-FR" dirty="0" err="1">
                <a:solidFill>
                  <a:srgbClr val="067D17"/>
                </a:solidFill>
                <a:effectLst/>
                <a:latin typeface="JetBrains Mono"/>
              </a:rPr>
              <a:t>fmt</a:t>
            </a:r>
            <a:r>
              <a:rPr lang="fr-FR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br>
              <a:rPr lang="fr-FR" dirty="0">
                <a:solidFill>
                  <a:srgbClr val="067D17"/>
                </a:solidFill>
                <a:effectLst/>
                <a:latin typeface="JetBrains Mono"/>
              </a:rPr>
            </a:br>
            <a:br>
              <a:rPr lang="fr-FR" dirty="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func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fr-FR" dirty="0" err="1">
                <a:solidFill>
                  <a:srgbClr val="286D73"/>
                </a:solidFill>
                <a:effectLst/>
                <a:latin typeface="JetBrains Mono"/>
              </a:rPr>
              <a:t>rechercheElement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fr-FR" dirty="0" err="1">
                <a:solidFill>
                  <a:srgbClr val="000000"/>
                </a:solidFill>
                <a:effectLst/>
                <a:latin typeface="JetBrains Mono"/>
              </a:rPr>
              <a:t>t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int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x 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int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) (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bool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int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i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:= 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;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i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&lt; 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len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fr-FR" dirty="0" err="1">
                <a:solidFill>
                  <a:srgbClr val="000000"/>
                </a:solidFill>
                <a:effectLst/>
                <a:latin typeface="JetBrains Mono"/>
              </a:rPr>
              <a:t>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);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i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++ {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fr-FR" dirty="0" err="1">
                <a:solidFill>
                  <a:srgbClr val="000000"/>
                </a:solidFill>
                <a:effectLst/>
                <a:latin typeface="JetBrains Mono"/>
              </a:rPr>
              <a:t>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i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] ==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x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  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i</a:t>
            </a:r>
            <a:br>
              <a:rPr lang="fr-FR" dirty="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      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  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i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++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return false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, -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br>
              <a:rPr lang="fr-FR" dirty="0">
                <a:solidFill>
                  <a:srgbClr val="1750EB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func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fr-FR" dirty="0">
                <a:solidFill>
                  <a:srgbClr val="286D73"/>
                </a:solidFill>
                <a:effectLst/>
                <a:latin typeface="JetBrains Mono"/>
              </a:rPr>
              <a:t>main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var </a:t>
            </a:r>
            <a:r>
              <a:rPr lang="fr-FR" dirty="0" err="1">
                <a:solidFill>
                  <a:srgbClr val="000000"/>
                </a:solidFill>
                <a:effectLst/>
                <a:latin typeface="JetBrains Mono"/>
              </a:rPr>
              <a:t>t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fr-FR" dirty="0">
                <a:solidFill>
                  <a:srgbClr val="808080"/>
                </a:solidFill>
                <a:effectLst/>
                <a:latin typeface="JetBrains Mono"/>
              </a:rPr>
              <a:t>[5]</a:t>
            </a:r>
            <a:r>
              <a:rPr lang="fr-FR" dirty="0" err="1">
                <a:solidFill>
                  <a:srgbClr val="808080"/>
                </a:solidFill>
                <a:effectLst/>
                <a:latin typeface="JetBrains Mono"/>
              </a:rPr>
              <a:t>int</a:t>
            </a:r>
            <a:r>
              <a:rPr lang="fr-FR" dirty="0">
                <a:solidFill>
                  <a:srgbClr val="808080"/>
                </a:solidFill>
                <a:effectLst/>
                <a:latin typeface="JetBrains Mono"/>
              </a:rPr>
              <a:t>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= [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int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12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32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7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23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9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fr-FR" dirty="0" err="1">
                <a:solidFill>
                  <a:srgbClr val="805900"/>
                </a:solidFill>
                <a:effectLst/>
                <a:latin typeface="JetBrains Mono"/>
              </a:rPr>
              <a:t>fmt</a:t>
            </a:r>
            <a:r>
              <a:rPr lang="fr-FR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fr-FR" dirty="0" err="1">
                <a:solidFill>
                  <a:srgbClr val="36666B"/>
                </a:solidFill>
                <a:effectLst/>
                <a:latin typeface="JetBrains Mono"/>
              </a:rPr>
              <a:t>Println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fr-FR" dirty="0" err="1">
                <a:solidFill>
                  <a:srgbClr val="36666B"/>
                </a:solidFill>
                <a:effectLst/>
                <a:latin typeface="JetBrains Mono"/>
              </a:rPr>
              <a:t>rechercheElement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fr-FR" dirty="0" err="1">
                <a:solidFill>
                  <a:srgbClr val="000000"/>
                </a:solidFill>
                <a:effectLst/>
                <a:latin typeface="JetBrains Mono"/>
              </a:rPr>
              <a:t>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7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))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fr-FR" dirty="0" err="1">
                <a:solidFill>
                  <a:srgbClr val="805900"/>
                </a:solidFill>
                <a:effectLst/>
                <a:latin typeface="JetBrains Mono"/>
              </a:rPr>
              <a:t>fmt</a:t>
            </a:r>
            <a:r>
              <a:rPr lang="fr-FR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fr-FR" dirty="0" err="1">
                <a:solidFill>
                  <a:srgbClr val="36666B"/>
                </a:solidFill>
                <a:effectLst/>
                <a:latin typeface="JetBrains Mono"/>
              </a:rPr>
              <a:t>Println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fr-FR" dirty="0" err="1">
                <a:solidFill>
                  <a:srgbClr val="36666B"/>
                </a:solidFill>
                <a:effectLst/>
                <a:latin typeface="JetBrains Mono"/>
              </a:rPr>
              <a:t>rechercheElement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fr-FR" dirty="0" err="1">
                <a:solidFill>
                  <a:srgbClr val="000000"/>
                </a:solidFill>
                <a:effectLst/>
                <a:latin typeface="JetBrains Mono"/>
              </a:rPr>
              <a:t>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))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endParaRPr lang="fr-FR" dirty="0">
              <a:solidFill>
                <a:srgbClr val="080808"/>
              </a:solidFill>
              <a:effectLst/>
              <a:latin typeface="JetBrains Mono"/>
            </a:endParaRPr>
          </a:p>
          <a:p>
            <a:pPr>
              <a:buNone/>
            </a:pPr>
            <a:endParaRPr lang="fr-FR" dirty="0">
              <a:solidFill>
                <a:srgbClr val="080808"/>
              </a:solidFill>
              <a:effectLst/>
              <a:latin typeface="JetBrains Mono"/>
            </a:endParaRP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3F1F2F7-5E91-C6CD-63D2-F01B604FB3FA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01040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fr-FR" dirty="0">
                <a:solidFill>
                  <a:srgbClr val="080808"/>
                </a:solidFill>
                <a:latin typeface="JetBrains Mono"/>
              </a:rPr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49859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DFD7A7-EC60-0B21-D69C-F08AB17EB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Recherche d’élément en go dans un tableau dynamique v3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4C354E-E4D4-0045-59D1-701E73E59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package </a:t>
            </a:r>
            <a:r>
              <a:rPr lang="fr-FR" dirty="0">
                <a:solidFill>
                  <a:srgbClr val="805900"/>
                </a:solidFill>
                <a:effectLst/>
                <a:latin typeface="JetBrains Mono"/>
              </a:rPr>
              <a:t>main</a:t>
            </a:r>
            <a:br>
              <a:rPr lang="fr-FR" dirty="0">
                <a:solidFill>
                  <a:srgbClr val="805900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lang="fr-FR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fr-FR" dirty="0" err="1">
                <a:solidFill>
                  <a:srgbClr val="067D17"/>
                </a:solidFill>
                <a:effectLst/>
                <a:latin typeface="JetBrains Mono"/>
              </a:rPr>
              <a:t>fmt</a:t>
            </a:r>
            <a:r>
              <a:rPr lang="fr-FR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br>
              <a:rPr lang="fr-FR" dirty="0">
                <a:solidFill>
                  <a:srgbClr val="067D17"/>
                </a:solidFill>
                <a:effectLst/>
                <a:latin typeface="JetBrains Mono"/>
              </a:rPr>
            </a:br>
            <a:br>
              <a:rPr lang="fr-FR" dirty="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func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fr-FR" dirty="0">
                <a:solidFill>
                  <a:srgbClr val="286D73"/>
                </a:solidFill>
                <a:effectLst/>
                <a:latin typeface="JetBrains Mono"/>
              </a:rPr>
              <a:t>rechercheElement3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fr-FR" dirty="0" err="1">
                <a:solidFill>
                  <a:srgbClr val="000000"/>
                </a:solidFill>
                <a:effectLst/>
                <a:latin typeface="JetBrains Mono"/>
              </a:rPr>
              <a:t>t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[]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int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x 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int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) (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bool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int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i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:= 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;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i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&lt; 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len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fr-FR" dirty="0" err="1">
                <a:solidFill>
                  <a:srgbClr val="000000"/>
                </a:solidFill>
                <a:effectLst/>
                <a:latin typeface="JetBrains Mono"/>
              </a:rPr>
              <a:t>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);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i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++ {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fr-FR" dirty="0" err="1">
                <a:solidFill>
                  <a:srgbClr val="000000"/>
                </a:solidFill>
                <a:effectLst/>
                <a:latin typeface="JetBrains Mono"/>
              </a:rPr>
              <a:t>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i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] ==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x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  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i</a:t>
            </a:r>
            <a:br>
              <a:rPr lang="fr-FR" dirty="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      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  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i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++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return false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, -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br>
              <a:rPr lang="fr-FR" dirty="0">
                <a:solidFill>
                  <a:srgbClr val="1750EB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func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fr-FR" dirty="0">
                <a:solidFill>
                  <a:srgbClr val="286D73"/>
                </a:solidFill>
                <a:effectLst/>
                <a:latin typeface="JetBrains Mono"/>
              </a:rPr>
              <a:t>main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var </a:t>
            </a:r>
            <a:r>
              <a:rPr lang="fr-FR" dirty="0" err="1">
                <a:solidFill>
                  <a:srgbClr val="000000"/>
                </a:solidFill>
                <a:effectLst/>
                <a:latin typeface="JetBrains Mono"/>
              </a:rPr>
              <a:t>t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fr-FR" dirty="0">
                <a:solidFill>
                  <a:srgbClr val="808080"/>
                </a:solidFill>
                <a:effectLst/>
                <a:latin typeface="JetBrains Mono"/>
              </a:rPr>
              <a:t>[]</a:t>
            </a:r>
            <a:r>
              <a:rPr lang="fr-FR" dirty="0" err="1">
                <a:solidFill>
                  <a:srgbClr val="808080"/>
                </a:solidFill>
                <a:effectLst/>
                <a:latin typeface="JetBrains Mono"/>
              </a:rPr>
              <a:t>int</a:t>
            </a:r>
            <a:r>
              <a:rPr lang="fr-FR" dirty="0">
                <a:solidFill>
                  <a:srgbClr val="808080"/>
                </a:solidFill>
                <a:effectLst/>
                <a:latin typeface="JetBrains Mono"/>
              </a:rPr>
              <a:t>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= []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int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12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32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7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23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9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fr-FR" dirty="0" err="1">
                <a:solidFill>
                  <a:srgbClr val="805900"/>
                </a:solidFill>
                <a:effectLst/>
                <a:latin typeface="JetBrains Mono"/>
              </a:rPr>
              <a:t>fmt</a:t>
            </a:r>
            <a:r>
              <a:rPr lang="fr-FR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fr-FR" dirty="0" err="1">
                <a:solidFill>
                  <a:srgbClr val="36666B"/>
                </a:solidFill>
                <a:effectLst/>
                <a:latin typeface="JetBrains Mono"/>
              </a:rPr>
              <a:t>Println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fr-FR" dirty="0">
                <a:solidFill>
                  <a:srgbClr val="36666B"/>
                </a:solidFill>
                <a:effectLst/>
                <a:latin typeface="JetBrains Mono"/>
              </a:rPr>
              <a:t>rechercheElement3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fr-FR" dirty="0" err="1">
                <a:solidFill>
                  <a:srgbClr val="000000"/>
                </a:solidFill>
                <a:effectLst/>
                <a:latin typeface="JetBrains Mono"/>
              </a:rPr>
              <a:t>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7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))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fr-FR" dirty="0" err="1">
                <a:solidFill>
                  <a:srgbClr val="805900"/>
                </a:solidFill>
                <a:effectLst/>
                <a:latin typeface="JetBrains Mono"/>
              </a:rPr>
              <a:t>fmt</a:t>
            </a:r>
            <a:r>
              <a:rPr lang="fr-FR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fr-FR" dirty="0" err="1">
                <a:solidFill>
                  <a:srgbClr val="36666B"/>
                </a:solidFill>
                <a:effectLst/>
                <a:latin typeface="JetBrains Mono"/>
              </a:rPr>
              <a:t>Println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fr-FR" dirty="0">
                <a:solidFill>
                  <a:srgbClr val="36666B"/>
                </a:solidFill>
                <a:effectLst/>
                <a:latin typeface="JetBrains Mono"/>
              </a:rPr>
              <a:t>rechercheElement3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fr-FR" dirty="0" err="1">
                <a:solidFill>
                  <a:srgbClr val="000000"/>
                </a:solidFill>
                <a:effectLst/>
                <a:latin typeface="JetBrains Mono"/>
              </a:rPr>
              <a:t>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))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46436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376E90-3089-EDFB-13A7-F3698205C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Recherche d’élément en go dans un tableau dynamique avec tests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21C2AE2-34D2-2512-DE04-73B764C1A4E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package </a:t>
            </a:r>
            <a:r>
              <a:rPr lang="fr-FR" dirty="0">
                <a:solidFill>
                  <a:srgbClr val="805900"/>
                </a:solidFill>
                <a:effectLst/>
                <a:latin typeface="JetBrains Mono"/>
              </a:rPr>
              <a:t>recherche</a:t>
            </a:r>
            <a:br>
              <a:rPr lang="fr-FR" dirty="0">
                <a:solidFill>
                  <a:srgbClr val="805900"/>
                </a:solidFill>
                <a:effectLst/>
                <a:latin typeface="JetBrains Mono"/>
              </a:rPr>
            </a:br>
            <a:br>
              <a:rPr lang="fr-FR" dirty="0">
                <a:solidFill>
                  <a:srgbClr val="805900"/>
                </a:solidFill>
                <a:effectLst/>
                <a:latin typeface="JetBrains Mono"/>
              </a:rPr>
            </a:b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func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fr-FR" dirty="0" err="1">
                <a:solidFill>
                  <a:srgbClr val="286D73"/>
                </a:solidFill>
                <a:effectLst/>
                <a:latin typeface="JetBrains Mono"/>
              </a:rPr>
              <a:t>rechercheElement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fr-FR" dirty="0" err="1">
                <a:solidFill>
                  <a:srgbClr val="000000"/>
                </a:solidFill>
                <a:effectLst/>
                <a:latin typeface="JetBrains Mono"/>
              </a:rPr>
              <a:t>t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[]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int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x 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int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) (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bool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int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i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:= 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;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i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&lt; 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len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fr-FR" dirty="0" err="1">
                <a:solidFill>
                  <a:srgbClr val="000000"/>
                </a:solidFill>
                <a:effectLst/>
                <a:latin typeface="JetBrains Mono"/>
              </a:rPr>
              <a:t>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);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i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++ {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fr-FR" dirty="0" err="1">
                <a:solidFill>
                  <a:srgbClr val="000000"/>
                </a:solidFill>
                <a:effectLst/>
                <a:latin typeface="JetBrains Mono"/>
              </a:rPr>
              <a:t>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i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] ==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x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  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i</a:t>
            </a:r>
            <a:br>
              <a:rPr lang="fr-FR" dirty="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      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  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i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++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return false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, -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br>
              <a:rPr lang="fr-FR" dirty="0">
                <a:solidFill>
                  <a:srgbClr val="1750EB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endParaRPr lang="fr-FR" dirty="0">
              <a:solidFill>
                <a:srgbClr val="080808"/>
              </a:solidFill>
              <a:effectLst/>
              <a:latin typeface="JetBrains Mono"/>
            </a:endParaRP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A9C3CB40-2E90-B588-66C2-F14D4FDC87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package </a:t>
            </a:r>
            <a:r>
              <a:rPr lang="fr-FR" dirty="0">
                <a:solidFill>
                  <a:srgbClr val="805900"/>
                </a:solidFill>
                <a:effectLst/>
                <a:latin typeface="JetBrains Mono"/>
              </a:rPr>
              <a:t>recherche</a:t>
            </a:r>
            <a:br>
              <a:rPr lang="fr-FR" dirty="0">
                <a:solidFill>
                  <a:srgbClr val="805900"/>
                </a:solidFill>
                <a:effectLst/>
                <a:latin typeface="JetBrains Mono"/>
              </a:rPr>
            </a:br>
            <a:br>
              <a:rPr lang="fr-FR" dirty="0">
                <a:solidFill>
                  <a:srgbClr val="805900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lang="fr-FR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fr-FR" dirty="0" err="1">
                <a:solidFill>
                  <a:srgbClr val="067D17"/>
                </a:solidFill>
                <a:effectLst/>
                <a:latin typeface="JetBrains Mono"/>
              </a:rPr>
              <a:t>testing</a:t>
            </a:r>
            <a:r>
              <a:rPr lang="fr-FR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br>
              <a:rPr lang="fr-FR" dirty="0">
                <a:solidFill>
                  <a:srgbClr val="067D17"/>
                </a:solidFill>
                <a:effectLst/>
                <a:latin typeface="JetBrains Mono"/>
              </a:rPr>
            </a:br>
            <a:br>
              <a:rPr lang="fr-FR" dirty="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func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fr-FR" dirty="0" err="1">
                <a:solidFill>
                  <a:srgbClr val="286D73"/>
                </a:solidFill>
                <a:effectLst/>
                <a:latin typeface="JetBrains Mono"/>
              </a:rPr>
              <a:t>TestNonInitialise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fr-FR" dirty="0" err="1">
                <a:solidFill>
                  <a:srgbClr val="000000"/>
                </a:solidFill>
                <a:effectLst/>
                <a:latin typeface="JetBrains Mono"/>
              </a:rPr>
              <a:t>t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*</a:t>
            </a:r>
            <a:r>
              <a:rPr lang="fr-FR" dirty="0" err="1">
                <a:solidFill>
                  <a:srgbClr val="805900"/>
                </a:solidFill>
                <a:effectLst/>
                <a:latin typeface="JetBrains Mono"/>
              </a:rPr>
              <a:t>testing</a:t>
            </a:r>
            <a:r>
              <a:rPr lang="fr-FR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fr-FR" dirty="0" err="1">
                <a:solidFill>
                  <a:srgbClr val="336ECC"/>
                </a:solidFill>
                <a:effectLst/>
                <a:latin typeface="JetBrains Mono"/>
              </a:rPr>
              <a:t>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trouve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position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:= </a:t>
            </a:r>
            <a:r>
              <a:rPr lang="fr-FR" dirty="0" err="1">
                <a:solidFill>
                  <a:srgbClr val="36666B"/>
                </a:solidFill>
                <a:effectLst/>
                <a:latin typeface="JetBrains Mono"/>
              </a:rPr>
              <a:t>rechercheElement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nil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trouve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!=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false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||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position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!= -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1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   </a:t>
            </a:r>
            <a:r>
              <a:rPr lang="fr-FR" dirty="0" err="1">
                <a:solidFill>
                  <a:srgbClr val="000000"/>
                </a:solidFill>
                <a:effectLst/>
                <a:latin typeface="JetBrains Mono"/>
              </a:rPr>
              <a:t>t</a:t>
            </a:r>
            <a:r>
              <a:rPr lang="fr-FR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fr-FR" dirty="0" err="1">
                <a:solidFill>
                  <a:srgbClr val="36666B"/>
                </a:solidFill>
                <a:effectLst/>
                <a:latin typeface="JetBrains Mono"/>
              </a:rPr>
              <a:t>Fatal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fr-FR" dirty="0">
                <a:solidFill>
                  <a:srgbClr val="067D17"/>
                </a:solidFill>
                <a:effectLst/>
                <a:latin typeface="JetBrains Mono"/>
              </a:rPr>
              <a:t>"pb avec un tableau non initialise"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  <a:p>
            <a:pPr>
              <a:buNone/>
            </a:pPr>
            <a:r>
              <a:rPr lang="fr-FR" dirty="0">
                <a:solidFill>
                  <a:srgbClr val="080808"/>
                </a:solidFill>
                <a:latin typeface="JetBrains Mono"/>
              </a:rPr>
              <a:t>…</a:t>
            </a:r>
            <a:endParaRPr lang="fr-FR" dirty="0">
              <a:solidFill>
                <a:srgbClr val="080808"/>
              </a:solidFill>
              <a:effectLst/>
              <a:latin typeface="JetBrains Mono"/>
            </a:endParaRP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09571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2D4093C4-4929-BBAD-CC02-4B527EB77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Recherche d’élément en go dans un tableau dynamique avec librairie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23E3D4C-E9E9-99FB-3F15-C7A597BDE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package </a:t>
            </a:r>
            <a:r>
              <a:rPr lang="fr-FR" dirty="0">
                <a:solidFill>
                  <a:srgbClr val="805900"/>
                </a:solidFill>
                <a:effectLst/>
                <a:latin typeface="JetBrains Mono"/>
              </a:rPr>
              <a:t>recherche</a:t>
            </a:r>
            <a:br>
              <a:rPr lang="fr-FR" dirty="0">
                <a:solidFill>
                  <a:srgbClr val="805900"/>
                </a:solidFill>
                <a:effectLst/>
                <a:latin typeface="JetBrains Mono"/>
              </a:rPr>
            </a:br>
            <a:br>
              <a:rPr lang="fr-FR" dirty="0">
                <a:solidFill>
                  <a:srgbClr val="805900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lang="fr-FR" dirty="0">
                <a:solidFill>
                  <a:srgbClr val="067D17"/>
                </a:solidFill>
                <a:effectLst/>
                <a:latin typeface="JetBrains Mono"/>
              </a:rPr>
              <a:t>"slices"</a:t>
            </a:r>
            <a:br>
              <a:rPr lang="fr-FR" dirty="0">
                <a:solidFill>
                  <a:srgbClr val="067D17"/>
                </a:solidFill>
                <a:effectLst/>
                <a:latin typeface="JetBrains Mono"/>
              </a:rPr>
            </a:br>
            <a:br>
              <a:rPr lang="fr-FR" dirty="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func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fr-FR" dirty="0" err="1">
                <a:solidFill>
                  <a:srgbClr val="286D73"/>
                </a:solidFill>
                <a:effectLst/>
                <a:latin typeface="JetBrains Mono"/>
              </a:rPr>
              <a:t>rechercheElement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fr-FR" dirty="0" err="1">
                <a:solidFill>
                  <a:srgbClr val="000000"/>
                </a:solidFill>
                <a:effectLst/>
                <a:latin typeface="JetBrains Mono"/>
              </a:rPr>
              <a:t>t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[]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int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x 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int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) (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bool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int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pos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:= </a:t>
            </a:r>
            <a:r>
              <a:rPr lang="fr-FR" dirty="0" err="1">
                <a:solidFill>
                  <a:srgbClr val="805900"/>
                </a:solidFill>
                <a:effectLst/>
                <a:latin typeface="JetBrains Mono"/>
              </a:rPr>
              <a:t>slices</a:t>
            </a:r>
            <a:r>
              <a:rPr lang="fr-FR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fr-FR" dirty="0" err="1">
                <a:solidFill>
                  <a:srgbClr val="36666B"/>
                </a:solidFill>
                <a:effectLst/>
                <a:latin typeface="JetBrains Mono"/>
              </a:rPr>
              <a:t>Index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fr-FR" dirty="0" err="1">
                <a:solidFill>
                  <a:srgbClr val="000000"/>
                </a:solidFill>
                <a:effectLst/>
                <a:latin typeface="JetBrains Mono"/>
              </a:rPr>
              <a:t>t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x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pos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== -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1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return false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, -</a:t>
            </a: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br>
              <a:rPr lang="fr-FR" dirty="0">
                <a:solidFill>
                  <a:srgbClr val="1750EB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1750EB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fr-FR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fr-FR" dirty="0" err="1"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fr-FR" dirty="0">
                <a:solidFill>
                  <a:srgbClr val="000000"/>
                </a:solidFill>
                <a:effectLst/>
                <a:latin typeface="JetBrains Mono"/>
              </a:rPr>
              <a:t>pos</a:t>
            </a:r>
            <a:br>
              <a:rPr lang="fr-FR" dirty="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fr-FR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fr-FR" dirty="0">
                <a:solidFill>
                  <a:srgbClr val="080808"/>
                </a:solidFill>
                <a:effectLst/>
                <a:latin typeface="JetBrains Mono"/>
              </a:rPr>
            </a:br>
            <a:endParaRPr lang="fr-FR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2123181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C8EA50-D146-81DD-74F0-5DB35DD68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Recherche d’élément : nombre d’opérations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D176CB-D4DE-540D-DFA4-E2A24FE95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b="1" dirty="0"/>
              <a:t>Pourquoi se poser la question du nombre d’opérations ?</a:t>
            </a:r>
          </a:p>
          <a:p>
            <a:pPr marL="0" indent="0">
              <a:buNone/>
            </a:pPr>
            <a:r>
              <a:rPr lang="fr-FR" dirty="0"/>
              <a:t>	Permet de comparer des algorithmes entre eux, savoir lequel sera le plus </a:t>
            </a:r>
            <a:r>
              <a:rPr lang="fr-FR" dirty="0" err="1"/>
              <a:t>eﬃcace</a:t>
            </a:r>
            <a:r>
              <a:rPr lang="fr-FR" dirty="0"/>
              <a:t> en temps 	de calcul.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Quelles opérations ?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dirty="0" err="1"/>
              <a:t>Aﬀectations</a:t>
            </a:r>
            <a:r>
              <a:rPr lang="fr-FR" dirty="0"/>
              <a:t> de variables, tests, opérations arithmétiques.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/>
              <a:t>Remarque : </a:t>
            </a:r>
          </a:p>
          <a:p>
            <a:pPr marL="0" indent="0">
              <a:buNone/>
            </a:pPr>
            <a:r>
              <a:rPr lang="fr-FR" dirty="0"/>
              <a:t>	Pour être vraiment précis il faudrait compter les instructions en langage machine car c’est 	cela qu’un processeur va exécuter au final.</a:t>
            </a:r>
          </a:p>
          <a:p>
            <a:pPr marL="0" indent="0">
              <a:buNone/>
            </a:pPr>
            <a:r>
              <a:rPr lang="fr-FR" dirty="0"/>
              <a:t>		Dépend du langage, du compilateur, du processeur.</a:t>
            </a:r>
          </a:p>
          <a:p>
            <a:pPr marL="0" indent="0">
              <a:buNone/>
            </a:pPr>
            <a:r>
              <a:rPr lang="fr-FR" dirty="0"/>
              <a:t>		Dépend de l’implantation de l’algorithme.</a:t>
            </a:r>
          </a:p>
          <a:p>
            <a:pPr marL="0" indent="0">
              <a:buNone/>
            </a:pPr>
            <a:r>
              <a:rPr lang="fr-FR" dirty="0"/>
              <a:t>En général on calcule un ordre de grandeur du nombre d’opérations en fonction de la taille de l’entrée, ici O(n) linéaire en fonction de la taille. 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6801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FCDD552B-3D94-5CA3-EBA1-DC1EC7B9A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Recherche d’élément : nombre d’opérations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82F593C1-66CD-6FEE-BF6A-E5B906001DF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dirty="0"/>
              <a:t>Soit i = 0. </a:t>
            </a:r>
          </a:p>
          <a:p>
            <a:pPr marL="0" indent="0">
              <a:buNone/>
            </a:pPr>
            <a:r>
              <a:rPr lang="fr-FR" dirty="0"/>
              <a:t>Tant que i &lt; </a:t>
            </a:r>
            <a:r>
              <a:rPr lang="fr-FR" dirty="0" err="1"/>
              <a:t>len</a:t>
            </a:r>
            <a:r>
              <a:rPr lang="fr-FR" dirty="0"/>
              <a:t>(</a:t>
            </a:r>
            <a:r>
              <a:rPr lang="fr-FR" dirty="0" err="1"/>
              <a:t>t</a:t>
            </a:r>
            <a:r>
              <a:rPr lang="fr-FR" dirty="0"/>
              <a:t>), </a:t>
            </a:r>
          </a:p>
          <a:p>
            <a:pPr marL="0" indent="0">
              <a:buNone/>
            </a:pPr>
            <a:r>
              <a:rPr lang="fr-FR" dirty="0"/>
              <a:t>	si </a:t>
            </a:r>
            <a:r>
              <a:rPr lang="fr-FR" dirty="0" err="1"/>
              <a:t>t</a:t>
            </a:r>
            <a:r>
              <a:rPr lang="fr-FR" dirty="0"/>
              <a:t>[i] = x retourner (</a:t>
            </a:r>
            <a:r>
              <a:rPr lang="fr-FR" dirty="0" err="1"/>
              <a:t>true</a:t>
            </a:r>
            <a:r>
              <a:rPr lang="fr-FR" dirty="0"/>
              <a:t>, i) ,</a:t>
            </a:r>
          </a:p>
          <a:p>
            <a:pPr marL="0" indent="0">
              <a:buNone/>
            </a:pPr>
            <a:r>
              <a:rPr lang="fr-FR" dirty="0"/>
              <a:t>	sinon augmenter i de 1. </a:t>
            </a:r>
          </a:p>
          <a:p>
            <a:pPr marL="0" indent="0">
              <a:buNone/>
            </a:pPr>
            <a:r>
              <a:rPr lang="fr-FR" dirty="0"/>
              <a:t>Retourner (false,−1).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300D1EA-CF7F-65B5-0973-C02BF405EE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dirty="0"/>
              <a:t>Affectation i = 0</a:t>
            </a:r>
          </a:p>
          <a:p>
            <a:pPr marL="0" indent="0">
              <a:buNone/>
            </a:pPr>
            <a:r>
              <a:rPr lang="fr-FR" dirty="0"/>
              <a:t>Tests : i &lt; </a:t>
            </a:r>
            <a:r>
              <a:rPr lang="fr-FR" dirty="0" err="1"/>
              <a:t>len</a:t>
            </a:r>
            <a:r>
              <a:rPr lang="fr-FR" dirty="0"/>
              <a:t>(</a:t>
            </a:r>
            <a:r>
              <a:rPr lang="fr-FR" dirty="0" err="1"/>
              <a:t>t</a:t>
            </a:r>
            <a:r>
              <a:rPr lang="fr-FR" dirty="0"/>
              <a:t>) et </a:t>
            </a:r>
            <a:r>
              <a:rPr lang="fr-FR" dirty="0" err="1"/>
              <a:t>t</a:t>
            </a:r>
            <a:r>
              <a:rPr lang="fr-FR" dirty="0"/>
              <a:t>[i] = x </a:t>
            </a:r>
          </a:p>
          <a:p>
            <a:pPr marL="0" indent="0">
              <a:buNone/>
            </a:pPr>
            <a:r>
              <a:rPr lang="fr-FR" dirty="0"/>
              <a:t>Opération arithmétique : augmenter i de 1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Soit 3k + 1 opérations, où k est le nombre de tours de boucle.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On ne peut pas savoir à l’avance le nombre de tours de boucle </a:t>
            </a:r>
            <a:r>
              <a:rPr lang="fr-FR" dirty="0" err="1"/>
              <a:t>eﬀectués</a:t>
            </a:r>
            <a:r>
              <a:rPr lang="fr-FR" dirty="0"/>
              <a:t>, on considère ce qui va se passer au pire : k= </a:t>
            </a:r>
            <a:r>
              <a:rPr lang="fr-FR" dirty="0" err="1"/>
              <a:t>len</a:t>
            </a:r>
            <a:r>
              <a:rPr lang="fr-FR" dirty="0"/>
              <a:t>(</a:t>
            </a:r>
            <a:r>
              <a:rPr lang="fr-FR" dirty="0" err="1"/>
              <a:t>t</a:t>
            </a:r>
            <a:r>
              <a:rPr lang="fr-FR" dirty="0"/>
              <a:t>).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92979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AFA712FC-8A9A-A976-B6E1-121D670DA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Recherche de minimum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1E6C084-2CC8-4900-82B5-28E628936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dirty="0"/>
              <a:t>Problème</a:t>
            </a:r>
          </a:p>
          <a:p>
            <a:pPr marL="0" indent="0">
              <a:buNone/>
            </a:pPr>
            <a:r>
              <a:rPr lang="fr-FR" dirty="0"/>
              <a:t>	Trouver le plus petit entier dans un tableau </a:t>
            </a:r>
            <a:r>
              <a:rPr lang="fr-FR" dirty="0" err="1"/>
              <a:t>t</a:t>
            </a:r>
            <a:r>
              <a:rPr lang="fr-FR" dirty="0"/>
              <a:t>, c’est-`a-dire trouver 	un indice </a:t>
            </a:r>
            <a:r>
              <a:rPr lang="fr-FR" dirty="0" err="1"/>
              <a:t>i</a:t>
            </a:r>
            <a:r>
              <a:rPr lang="fr-FR" baseline="-25000" dirty="0" err="1"/>
              <a:t>min</a:t>
            </a:r>
            <a:r>
              <a:rPr lang="fr-FR" dirty="0"/>
              <a:t> tel que pour tout i ∈[0, </a:t>
            </a:r>
            <a:r>
              <a:rPr lang="fr-FR" dirty="0" err="1"/>
              <a:t>len</a:t>
            </a:r>
            <a:r>
              <a:rPr lang="fr-FR" dirty="0"/>
              <a:t>(</a:t>
            </a:r>
            <a:r>
              <a:rPr lang="fr-FR" dirty="0" err="1"/>
              <a:t>t</a:t>
            </a:r>
            <a:r>
              <a:rPr lang="fr-FR" dirty="0"/>
              <a:t>)[ on a </a:t>
            </a:r>
            <a:r>
              <a:rPr lang="fr-FR" dirty="0" err="1"/>
              <a:t>t</a:t>
            </a:r>
            <a:r>
              <a:rPr lang="fr-FR" dirty="0"/>
              <a:t>[</a:t>
            </a:r>
            <a:r>
              <a:rPr lang="fr-FR" dirty="0" err="1"/>
              <a:t>i</a:t>
            </a:r>
            <a:r>
              <a:rPr lang="fr-FR" baseline="-25000" dirty="0" err="1"/>
              <a:t>min</a:t>
            </a:r>
            <a:r>
              <a:rPr lang="fr-FR" dirty="0"/>
              <a:t>] ≤</a:t>
            </a:r>
            <a:r>
              <a:rPr lang="fr-FR" dirty="0" err="1"/>
              <a:t>t</a:t>
            </a:r>
            <a:r>
              <a:rPr lang="fr-FR" dirty="0"/>
              <a:t>[i].</a:t>
            </a:r>
          </a:p>
          <a:p>
            <a:pPr marL="0" indent="0">
              <a:buNone/>
            </a:pPr>
            <a:r>
              <a:rPr lang="fr-FR" dirty="0"/>
              <a:t>Algorithme</a:t>
            </a:r>
          </a:p>
          <a:p>
            <a:pPr marL="0" indent="0">
              <a:buNone/>
            </a:pPr>
            <a:r>
              <a:rPr lang="fr-FR" dirty="0"/>
              <a:t>	Soit i = 1 et soit </a:t>
            </a:r>
            <a:r>
              <a:rPr lang="fr-FR" dirty="0" err="1"/>
              <a:t>i</a:t>
            </a:r>
            <a:r>
              <a:rPr lang="fr-FR" baseline="-25000" dirty="0" err="1"/>
              <a:t>min</a:t>
            </a:r>
            <a:r>
              <a:rPr lang="fr-FR" dirty="0"/>
              <a:t> = 0. </a:t>
            </a:r>
          </a:p>
          <a:p>
            <a:pPr marL="0" indent="0">
              <a:buNone/>
            </a:pPr>
            <a:r>
              <a:rPr lang="fr-FR" dirty="0"/>
              <a:t>	Tant que i &lt; </a:t>
            </a:r>
            <a:r>
              <a:rPr lang="fr-FR" dirty="0" err="1"/>
              <a:t>len</a:t>
            </a:r>
            <a:r>
              <a:rPr lang="fr-FR" dirty="0"/>
              <a:t>(</a:t>
            </a:r>
            <a:r>
              <a:rPr lang="fr-FR" dirty="0" err="1"/>
              <a:t>t</a:t>
            </a:r>
            <a:r>
              <a:rPr lang="fr-FR" dirty="0"/>
              <a:t>), </a:t>
            </a:r>
          </a:p>
          <a:p>
            <a:pPr marL="0" indent="0">
              <a:buNone/>
            </a:pPr>
            <a:r>
              <a:rPr lang="fr-FR" dirty="0"/>
              <a:t>		si </a:t>
            </a:r>
            <a:r>
              <a:rPr lang="fr-FR" dirty="0" err="1"/>
              <a:t>t</a:t>
            </a:r>
            <a:r>
              <a:rPr lang="fr-FR" dirty="0"/>
              <a:t>[i] &lt; </a:t>
            </a:r>
            <a:r>
              <a:rPr lang="fr-FR" dirty="0" err="1"/>
              <a:t>t</a:t>
            </a:r>
            <a:r>
              <a:rPr lang="fr-FR" dirty="0"/>
              <a:t>[</a:t>
            </a:r>
            <a:r>
              <a:rPr lang="fr-FR" dirty="0" err="1"/>
              <a:t>i</a:t>
            </a:r>
            <a:r>
              <a:rPr lang="fr-FR" baseline="-25000" dirty="0" err="1"/>
              <a:t>min</a:t>
            </a:r>
            <a:r>
              <a:rPr lang="fr-FR" dirty="0"/>
              <a:t>] poser </a:t>
            </a:r>
            <a:r>
              <a:rPr lang="fr-FR" dirty="0" err="1"/>
              <a:t>i</a:t>
            </a:r>
            <a:r>
              <a:rPr lang="fr-FR" baseline="-25000" dirty="0" err="1"/>
              <a:t>min</a:t>
            </a:r>
            <a:r>
              <a:rPr lang="fr-FR" dirty="0"/>
              <a:t> = i, </a:t>
            </a:r>
          </a:p>
          <a:p>
            <a:pPr marL="0" indent="0">
              <a:buNone/>
            </a:pPr>
            <a:r>
              <a:rPr lang="fr-FR" dirty="0"/>
              <a:t>		dans tous les cas augmenter i de 1. </a:t>
            </a:r>
          </a:p>
          <a:p>
            <a:pPr marL="0" indent="0">
              <a:buNone/>
            </a:pPr>
            <a:r>
              <a:rPr lang="fr-FR" dirty="0"/>
              <a:t>	Retourner </a:t>
            </a:r>
            <a:r>
              <a:rPr lang="fr-FR" dirty="0" err="1"/>
              <a:t>i</a:t>
            </a:r>
            <a:r>
              <a:rPr lang="fr-FR" baseline="-25000" dirty="0" err="1"/>
              <a:t>min</a:t>
            </a:r>
            <a:r>
              <a:rPr lang="fr-FR" dirty="0"/>
              <a:t>.</a:t>
            </a:r>
          </a:p>
          <a:p>
            <a:pPr marL="0" indent="0">
              <a:buNone/>
            </a:pPr>
            <a:r>
              <a:rPr lang="fr-FR" dirty="0"/>
              <a:t>Rem : ne fonction pas avec les entiers relatifs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66199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E49E06-B6DF-1CE8-AD1D-9A4C45F5A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Recherche de minimum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93D83D-499F-490D-6C7C-5AB1CA855DD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dirty="0"/>
              <a:t>Exemple </a:t>
            </a:r>
          </a:p>
          <a:p>
            <a:pPr marL="0" indent="0">
              <a:buNone/>
            </a:pPr>
            <a:r>
              <a:rPr lang="fr-FR" dirty="0" err="1"/>
              <a:t>t</a:t>
            </a:r>
            <a:r>
              <a:rPr lang="fr-FR" dirty="0"/>
              <a:t>=</a:t>
            </a:r>
          </a:p>
          <a:p>
            <a:pPr marL="0" indent="0">
              <a:buNone/>
            </a:pPr>
            <a:r>
              <a:rPr lang="fr-FR" dirty="0" err="1"/>
              <a:t>t</a:t>
            </a:r>
            <a:r>
              <a:rPr lang="fr-FR" dirty="0"/>
              <a:t>[i] = </a:t>
            </a:r>
            <a:r>
              <a:rPr lang="fr-FR" dirty="0" err="1"/>
              <a:t>t</a:t>
            </a:r>
            <a:r>
              <a:rPr lang="fr-FR" dirty="0"/>
              <a:t>[1] &gt; </a:t>
            </a:r>
            <a:r>
              <a:rPr lang="fr-FR" dirty="0" err="1"/>
              <a:t>t</a:t>
            </a:r>
            <a:r>
              <a:rPr lang="fr-FR" dirty="0"/>
              <a:t>[0] = </a:t>
            </a:r>
            <a:r>
              <a:rPr lang="fr-FR" dirty="0" err="1"/>
              <a:t>t</a:t>
            </a:r>
            <a:r>
              <a:rPr lang="fr-FR" dirty="0"/>
              <a:t>[</a:t>
            </a:r>
            <a:r>
              <a:rPr lang="fr-FR" dirty="0" err="1"/>
              <a:t>i</a:t>
            </a:r>
            <a:r>
              <a:rPr lang="fr-FR" baseline="-25000" dirty="0" err="1"/>
              <a:t>min</a:t>
            </a:r>
            <a:r>
              <a:rPr lang="fr-FR" dirty="0"/>
              <a:t>], </a:t>
            </a:r>
          </a:p>
          <a:p>
            <a:pPr marL="0" indent="0">
              <a:buNone/>
            </a:pPr>
            <a:r>
              <a:rPr lang="fr-FR" dirty="0" err="1"/>
              <a:t>i</a:t>
            </a:r>
            <a:r>
              <a:rPr lang="fr-FR" baseline="-25000" dirty="0" err="1"/>
              <a:t>min</a:t>
            </a:r>
            <a:r>
              <a:rPr lang="fr-FR" dirty="0"/>
              <a:t> ne change pas, puis i = 2,</a:t>
            </a:r>
          </a:p>
          <a:p>
            <a:pPr marL="0" indent="0">
              <a:buNone/>
            </a:pPr>
            <a:r>
              <a:rPr lang="fr-FR" dirty="0" err="1"/>
              <a:t>t</a:t>
            </a:r>
            <a:r>
              <a:rPr lang="fr-FR" dirty="0"/>
              <a:t>[i] = </a:t>
            </a:r>
            <a:r>
              <a:rPr lang="fr-FR" dirty="0" err="1"/>
              <a:t>t</a:t>
            </a:r>
            <a:r>
              <a:rPr lang="fr-FR" dirty="0"/>
              <a:t>[2] &lt; </a:t>
            </a:r>
            <a:r>
              <a:rPr lang="fr-FR" dirty="0" err="1"/>
              <a:t>t</a:t>
            </a:r>
            <a:r>
              <a:rPr lang="fr-FR" dirty="0"/>
              <a:t>[0] = </a:t>
            </a:r>
            <a:r>
              <a:rPr lang="fr-FR" dirty="0" err="1"/>
              <a:t>t</a:t>
            </a:r>
            <a:r>
              <a:rPr lang="fr-FR" dirty="0"/>
              <a:t>[</a:t>
            </a:r>
            <a:r>
              <a:rPr lang="fr-FR" dirty="0" err="1"/>
              <a:t>i</a:t>
            </a:r>
            <a:r>
              <a:rPr lang="fr-FR" baseline="-25000" dirty="0" err="1"/>
              <a:t>min</a:t>
            </a:r>
            <a:r>
              <a:rPr lang="fr-FR" dirty="0"/>
              <a:t>], </a:t>
            </a:r>
          </a:p>
          <a:p>
            <a:pPr marL="0" indent="0">
              <a:buNone/>
            </a:pPr>
            <a:r>
              <a:rPr lang="fr-FR" dirty="0"/>
              <a:t>donc </a:t>
            </a:r>
            <a:r>
              <a:rPr lang="fr-FR" dirty="0" err="1"/>
              <a:t>i</a:t>
            </a:r>
            <a:r>
              <a:rPr lang="fr-FR" baseline="-25000" dirty="0" err="1"/>
              <a:t>min</a:t>
            </a:r>
            <a:r>
              <a:rPr lang="fr-FR" dirty="0"/>
              <a:t> = 2, puis i = 3,</a:t>
            </a:r>
          </a:p>
          <a:p>
            <a:pPr marL="0" indent="0">
              <a:buNone/>
            </a:pPr>
            <a:r>
              <a:rPr lang="fr-FR" dirty="0" err="1"/>
              <a:t>t</a:t>
            </a:r>
            <a:r>
              <a:rPr lang="fr-FR" dirty="0"/>
              <a:t>[i] = </a:t>
            </a:r>
            <a:r>
              <a:rPr lang="fr-FR" dirty="0" err="1"/>
              <a:t>t</a:t>
            </a:r>
            <a:r>
              <a:rPr lang="fr-FR" dirty="0"/>
              <a:t>[3] &gt; </a:t>
            </a:r>
            <a:r>
              <a:rPr lang="fr-FR" dirty="0" err="1"/>
              <a:t>t</a:t>
            </a:r>
            <a:r>
              <a:rPr lang="fr-FR" dirty="0"/>
              <a:t>[2] = </a:t>
            </a:r>
            <a:r>
              <a:rPr lang="fr-FR" dirty="0" err="1"/>
              <a:t>t</a:t>
            </a:r>
            <a:r>
              <a:rPr lang="fr-FR" dirty="0"/>
              <a:t>[</a:t>
            </a:r>
            <a:r>
              <a:rPr lang="fr-FR" dirty="0" err="1"/>
              <a:t>i</a:t>
            </a:r>
            <a:r>
              <a:rPr lang="fr-FR" baseline="-25000" dirty="0" err="1"/>
              <a:t>min</a:t>
            </a:r>
            <a:r>
              <a:rPr lang="fr-FR" dirty="0"/>
              <a:t>], </a:t>
            </a:r>
          </a:p>
          <a:p>
            <a:pPr marL="0" indent="0">
              <a:buNone/>
            </a:pPr>
            <a:r>
              <a:rPr lang="fr-FR" dirty="0" err="1"/>
              <a:t>i</a:t>
            </a:r>
            <a:r>
              <a:rPr lang="fr-FR" baseline="-25000" dirty="0" err="1"/>
              <a:t>min</a:t>
            </a:r>
            <a:r>
              <a:rPr lang="fr-FR" dirty="0"/>
              <a:t> ne change pas, puis i = 4,</a:t>
            </a:r>
          </a:p>
          <a:p>
            <a:pPr marL="0" indent="0">
              <a:buNone/>
            </a:pPr>
            <a:r>
              <a:rPr lang="fr-FR" dirty="0" err="1"/>
              <a:t>t</a:t>
            </a:r>
            <a:r>
              <a:rPr lang="fr-FR" dirty="0"/>
              <a:t>[i] = </a:t>
            </a:r>
            <a:r>
              <a:rPr lang="fr-FR" dirty="0" err="1"/>
              <a:t>t</a:t>
            </a:r>
            <a:r>
              <a:rPr lang="fr-FR" dirty="0"/>
              <a:t>[4] &gt; </a:t>
            </a:r>
            <a:r>
              <a:rPr lang="fr-FR" dirty="0" err="1"/>
              <a:t>t</a:t>
            </a:r>
            <a:r>
              <a:rPr lang="fr-FR" dirty="0"/>
              <a:t>[2] = </a:t>
            </a:r>
            <a:r>
              <a:rPr lang="fr-FR" dirty="0" err="1"/>
              <a:t>t</a:t>
            </a:r>
            <a:r>
              <a:rPr lang="fr-FR" dirty="0"/>
              <a:t>[</a:t>
            </a:r>
            <a:r>
              <a:rPr lang="fr-FR" dirty="0" err="1"/>
              <a:t>i</a:t>
            </a:r>
            <a:r>
              <a:rPr lang="fr-FR" baseline="-25000" dirty="0" err="1"/>
              <a:t>min</a:t>
            </a:r>
            <a:r>
              <a:rPr lang="fr-FR" dirty="0"/>
              <a:t>], </a:t>
            </a:r>
          </a:p>
          <a:p>
            <a:pPr marL="0" indent="0">
              <a:buNone/>
            </a:pPr>
            <a:r>
              <a:rPr lang="fr-FR" dirty="0" err="1"/>
              <a:t>i</a:t>
            </a:r>
            <a:r>
              <a:rPr lang="fr-FR" baseline="-25000" dirty="0" err="1"/>
              <a:t>min</a:t>
            </a:r>
            <a:r>
              <a:rPr lang="fr-FR" dirty="0"/>
              <a:t> ne change pas, puis i = 5,</a:t>
            </a:r>
          </a:p>
          <a:p>
            <a:pPr marL="0" indent="0">
              <a:buNone/>
            </a:pPr>
            <a:r>
              <a:rPr lang="fr-FR" dirty="0"/>
              <a:t> i = 5 = </a:t>
            </a:r>
            <a:r>
              <a:rPr lang="fr-FR" dirty="0" err="1"/>
              <a:t>len</a:t>
            </a:r>
            <a:r>
              <a:rPr lang="fr-FR" dirty="0"/>
              <a:t>(</a:t>
            </a:r>
            <a:r>
              <a:rPr lang="fr-FR" dirty="0" err="1"/>
              <a:t>t</a:t>
            </a:r>
            <a:r>
              <a:rPr lang="fr-FR" dirty="0"/>
              <a:t>), on retourne </a:t>
            </a:r>
            <a:r>
              <a:rPr lang="fr-FR" dirty="0" err="1"/>
              <a:t>i</a:t>
            </a:r>
            <a:r>
              <a:rPr lang="fr-FR" baseline="-25000" dirty="0" err="1"/>
              <a:t>min</a:t>
            </a:r>
            <a:r>
              <a:rPr lang="fr-FR" dirty="0"/>
              <a:t> = 2.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57AB58FD-C8C3-A009-37C1-77EC54217CB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dirty="0"/>
              <a:t>Algorithme</a:t>
            </a:r>
          </a:p>
          <a:p>
            <a:pPr marL="0" indent="0">
              <a:buNone/>
            </a:pPr>
            <a:r>
              <a:rPr lang="fr-FR" dirty="0"/>
              <a:t>	Soit i = 1 et soit </a:t>
            </a:r>
            <a:r>
              <a:rPr lang="fr-FR" dirty="0" err="1"/>
              <a:t>i</a:t>
            </a:r>
            <a:r>
              <a:rPr lang="fr-FR" baseline="-25000" dirty="0" err="1"/>
              <a:t>min</a:t>
            </a:r>
            <a:r>
              <a:rPr lang="fr-FR" dirty="0"/>
              <a:t> = 0. </a:t>
            </a:r>
          </a:p>
          <a:p>
            <a:pPr marL="0" indent="0">
              <a:buNone/>
            </a:pPr>
            <a:r>
              <a:rPr lang="fr-FR" dirty="0"/>
              <a:t>	Tant que i &lt; </a:t>
            </a:r>
            <a:r>
              <a:rPr lang="fr-FR" dirty="0" err="1"/>
              <a:t>len</a:t>
            </a:r>
            <a:r>
              <a:rPr lang="fr-FR" dirty="0"/>
              <a:t>(</a:t>
            </a:r>
            <a:r>
              <a:rPr lang="fr-FR" dirty="0" err="1"/>
              <a:t>t</a:t>
            </a:r>
            <a:r>
              <a:rPr lang="fr-FR" dirty="0"/>
              <a:t>), </a:t>
            </a:r>
          </a:p>
          <a:p>
            <a:pPr marL="0" indent="0">
              <a:buNone/>
            </a:pPr>
            <a:r>
              <a:rPr lang="fr-FR" dirty="0"/>
              <a:t>		si </a:t>
            </a:r>
            <a:r>
              <a:rPr lang="fr-FR" dirty="0" err="1"/>
              <a:t>t</a:t>
            </a:r>
            <a:r>
              <a:rPr lang="fr-FR" dirty="0"/>
              <a:t>[i] &lt; </a:t>
            </a:r>
            <a:r>
              <a:rPr lang="fr-FR" dirty="0" err="1"/>
              <a:t>t</a:t>
            </a:r>
            <a:r>
              <a:rPr lang="fr-FR" dirty="0"/>
              <a:t>[</a:t>
            </a:r>
            <a:r>
              <a:rPr lang="fr-FR" dirty="0" err="1"/>
              <a:t>i</a:t>
            </a:r>
            <a:r>
              <a:rPr lang="fr-FR" baseline="-25000" dirty="0" err="1"/>
              <a:t>min</a:t>
            </a:r>
            <a:r>
              <a:rPr lang="fr-FR" dirty="0"/>
              <a:t>] </a:t>
            </a:r>
          </a:p>
          <a:p>
            <a:pPr marL="0" indent="0">
              <a:buNone/>
            </a:pPr>
            <a:r>
              <a:rPr lang="fr-FR" dirty="0"/>
              <a:t>			poser </a:t>
            </a:r>
            <a:r>
              <a:rPr lang="fr-FR" dirty="0" err="1"/>
              <a:t>i</a:t>
            </a:r>
            <a:r>
              <a:rPr lang="fr-FR" baseline="-25000" dirty="0" err="1"/>
              <a:t>min</a:t>
            </a:r>
            <a:r>
              <a:rPr lang="fr-FR" dirty="0"/>
              <a:t> = i, </a:t>
            </a:r>
          </a:p>
          <a:p>
            <a:pPr marL="0" indent="0">
              <a:buNone/>
            </a:pPr>
            <a:r>
              <a:rPr lang="fr-FR" dirty="0"/>
              <a:t>		dans tous les cas 	augmenter i de 1. </a:t>
            </a:r>
          </a:p>
          <a:p>
            <a:pPr marL="0" indent="0">
              <a:buNone/>
            </a:pPr>
            <a:r>
              <a:rPr lang="fr-FR" dirty="0"/>
              <a:t>	Retourner </a:t>
            </a:r>
            <a:r>
              <a:rPr lang="fr-FR" dirty="0" err="1"/>
              <a:t>i</a:t>
            </a:r>
            <a:r>
              <a:rPr lang="fr-FR" baseline="-25000" dirty="0" err="1"/>
              <a:t>min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823D31CA-22C9-63CC-4BF4-75A27EC561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177012"/>
              </p:ext>
            </p:extLst>
          </p:nvPr>
        </p:nvGraphicFramePr>
        <p:xfrm>
          <a:off x="1293085" y="2128612"/>
          <a:ext cx="374869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738">
                  <a:extLst>
                    <a:ext uri="{9D8B030D-6E8A-4147-A177-3AD203B41FA5}">
                      <a16:colId xmlns:a16="http://schemas.microsoft.com/office/drawing/2014/main" val="2428685435"/>
                    </a:ext>
                  </a:extLst>
                </a:gridCol>
                <a:gridCol w="749738">
                  <a:extLst>
                    <a:ext uri="{9D8B030D-6E8A-4147-A177-3AD203B41FA5}">
                      <a16:colId xmlns:a16="http://schemas.microsoft.com/office/drawing/2014/main" val="4077065735"/>
                    </a:ext>
                  </a:extLst>
                </a:gridCol>
                <a:gridCol w="749738">
                  <a:extLst>
                    <a:ext uri="{9D8B030D-6E8A-4147-A177-3AD203B41FA5}">
                      <a16:colId xmlns:a16="http://schemas.microsoft.com/office/drawing/2014/main" val="3513407377"/>
                    </a:ext>
                  </a:extLst>
                </a:gridCol>
                <a:gridCol w="749738">
                  <a:extLst>
                    <a:ext uri="{9D8B030D-6E8A-4147-A177-3AD203B41FA5}">
                      <a16:colId xmlns:a16="http://schemas.microsoft.com/office/drawing/2014/main" val="2505454059"/>
                    </a:ext>
                  </a:extLst>
                </a:gridCol>
                <a:gridCol w="749738">
                  <a:extLst>
                    <a:ext uri="{9D8B030D-6E8A-4147-A177-3AD203B41FA5}">
                      <a16:colId xmlns:a16="http://schemas.microsoft.com/office/drawing/2014/main" val="3363715900"/>
                    </a:ext>
                  </a:extLst>
                </a:gridCol>
              </a:tblGrid>
              <a:tr h="333761">
                <a:tc>
                  <a:txBody>
                    <a:bodyPr/>
                    <a:lstStyle/>
                    <a:p>
                      <a:r>
                        <a:rPr lang="fr-FR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440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21434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C6B94369-D120-B753-32FA-B36F64910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Recherche de minimum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DEC336-9A87-3836-5FBF-52585E88BCF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dirty="0"/>
              <a:t>Algorithme</a:t>
            </a:r>
          </a:p>
          <a:p>
            <a:pPr marL="0" indent="0">
              <a:buNone/>
            </a:pPr>
            <a:r>
              <a:rPr lang="fr-FR" dirty="0"/>
              <a:t>	Soit i = 1 et soit </a:t>
            </a:r>
            <a:r>
              <a:rPr lang="fr-FR" dirty="0" err="1"/>
              <a:t>i</a:t>
            </a:r>
            <a:r>
              <a:rPr lang="fr-FR" baseline="-25000" dirty="0" err="1"/>
              <a:t>min</a:t>
            </a:r>
            <a:r>
              <a:rPr lang="fr-FR" dirty="0"/>
              <a:t> = 0. </a:t>
            </a:r>
          </a:p>
          <a:p>
            <a:pPr marL="0" indent="0">
              <a:buNone/>
            </a:pPr>
            <a:r>
              <a:rPr lang="fr-FR" dirty="0"/>
              <a:t>	Tant que i &lt; </a:t>
            </a:r>
            <a:r>
              <a:rPr lang="fr-FR" dirty="0" err="1"/>
              <a:t>len</a:t>
            </a:r>
            <a:r>
              <a:rPr lang="fr-FR" dirty="0"/>
              <a:t>(</a:t>
            </a:r>
            <a:r>
              <a:rPr lang="fr-FR" dirty="0" err="1"/>
              <a:t>t</a:t>
            </a:r>
            <a:r>
              <a:rPr lang="fr-FR" dirty="0"/>
              <a:t>), </a:t>
            </a:r>
          </a:p>
          <a:p>
            <a:pPr marL="0" indent="0">
              <a:buNone/>
            </a:pPr>
            <a:r>
              <a:rPr lang="fr-FR" dirty="0"/>
              <a:t>		si </a:t>
            </a:r>
            <a:r>
              <a:rPr lang="fr-FR" dirty="0" err="1"/>
              <a:t>t</a:t>
            </a:r>
            <a:r>
              <a:rPr lang="fr-FR" dirty="0"/>
              <a:t>[i] &lt; </a:t>
            </a:r>
            <a:r>
              <a:rPr lang="fr-FR" dirty="0" err="1"/>
              <a:t>t</a:t>
            </a:r>
            <a:r>
              <a:rPr lang="fr-FR" dirty="0"/>
              <a:t>[</a:t>
            </a:r>
            <a:r>
              <a:rPr lang="fr-FR" dirty="0" err="1"/>
              <a:t>i</a:t>
            </a:r>
            <a:r>
              <a:rPr lang="fr-FR" baseline="-25000" dirty="0" err="1"/>
              <a:t>min</a:t>
            </a:r>
            <a:r>
              <a:rPr lang="fr-FR" dirty="0"/>
              <a:t>] </a:t>
            </a:r>
          </a:p>
          <a:p>
            <a:pPr marL="0" indent="0">
              <a:buNone/>
            </a:pPr>
            <a:r>
              <a:rPr lang="fr-FR" dirty="0"/>
              <a:t>			poser </a:t>
            </a:r>
            <a:r>
              <a:rPr lang="fr-FR" dirty="0" err="1"/>
              <a:t>i</a:t>
            </a:r>
            <a:r>
              <a:rPr lang="fr-FR" baseline="-25000" dirty="0" err="1"/>
              <a:t>min</a:t>
            </a:r>
            <a:r>
              <a:rPr lang="fr-FR" dirty="0"/>
              <a:t> = i, </a:t>
            </a:r>
          </a:p>
          <a:p>
            <a:pPr marL="0" indent="0">
              <a:buNone/>
            </a:pPr>
            <a:r>
              <a:rPr lang="fr-FR" dirty="0"/>
              <a:t>		dans tous les cas 	augmenter i de 1. </a:t>
            </a:r>
          </a:p>
          <a:p>
            <a:pPr marL="0" indent="0">
              <a:buNone/>
            </a:pPr>
            <a:r>
              <a:rPr lang="fr-FR" dirty="0"/>
              <a:t>	Retourner </a:t>
            </a:r>
            <a:r>
              <a:rPr lang="fr-FR" dirty="0" err="1"/>
              <a:t>i</a:t>
            </a:r>
            <a:r>
              <a:rPr lang="fr-FR" baseline="-25000" dirty="0" err="1"/>
              <a:t>min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CEB22569-D221-9A03-757F-D1C8370691E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dirty="0"/>
              <a:t>Nombre d’opérations</a:t>
            </a:r>
          </a:p>
          <a:p>
            <a:pPr marL="0" indent="0">
              <a:buNone/>
            </a:pPr>
            <a:r>
              <a:rPr lang="fr-FR" dirty="0"/>
              <a:t>	2 opérations à l’initialisation.</a:t>
            </a:r>
          </a:p>
          <a:p>
            <a:pPr marL="0" indent="0">
              <a:buNone/>
            </a:pPr>
            <a:r>
              <a:rPr lang="fr-FR" dirty="0"/>
              <a:t>	3 opérations à chaque tour de 	boucle.</a:t>
            </a:r>
          </a:p>
          <a:p>
            <a:pPr marL="0" indent="0">
              <a:buNone/>
            </a:pPr>
            <a:r>
              <a:rPr lang="fr-FR" dirty="0"/>
              <a:t>	1 opération par tour de boucle 	où la conditionnelle a lieu.</a:t>
            </a:r>
          </a:p>
          <a:p>
            <a:pPr marL="0" indent="0">
              <a:buNone/>
            </a:pPr>
            <a:r>
              <a:rPr lang="fr-FR" dirty="0"/>
              <a:t>Soit 3 ×(</a:t>
            </a:r>
            <a:r>
              <a:rPr lang="fr-FR" dirty="0" err="1"/>
              <a:t>len</a:t>
            </a:r>
            <a:r>
              <a:rPr lang="fr-FR" dirty="0"/>
              <a:t>(</a:t>
            </a:r>
            <a:r>
              <a:rPr lang="fr-FR" dirty="0" err="1"/>
              <a:t>t</a:t>
            </a:r>
            <a:r>
              <a:rPr lang="fr-FR" dirty="0"/>
              <a:t>)−1) + k + 2 opérations, avec k le nombre de tours de boucle où la conditionnelle a lieu.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Nombre d’opérations dans le pire cas</a:t>
            </a:r>
          </a:p>
          <a:p>
            <a:pPr marL="0" indent="0">
              <a:buNone/>
            </a:pPr>
            <a:r>
              <a:rPr lang="fr-FR" dirty="0"/>
              <a:t>	La conditionnelle a lieu tout le 	temps : k = (</a:t>
            </a:r>
            <a:r>
              <a:rPr lang="fr-FR" dirty="0" err="1"/>
              <a:t>len</a:t>
            </a:r>
            <a:r>
              <a:rPr lang="fr-FR" dirty="0"/>
              <a:t>(</a:t>
            </a:r>
            <a:r>
              <a:rPr lang="fr-FR" dirty="0" err="1"/>
              <a:t>t</a:t>
            </a:r>
            <a:r>
              <a:rPr lang="fr-FR" dirty="0"/>
              <a:t>)−1)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428008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0F65EA2-C967-EB59-33DD-1DBB6A556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Sélection d’éléments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41D352A-8BC0-8548-DD0E-9D9191A3D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b="1" dirty="0"/>
              <a:t>Problème :</a:t>
            </a:r>
          </a:p>
          <a:p>
            <a:pPr marL="0" indent="0">
              <a:buNone/>
            </a:pPr>
            <a:r>
              <a:rPr lang="fr-FR" dirty="0"/>
              <a:t>Etant donné un tableau </a:t>
            </a:r>
            <a:r>
              <a:rPr lang="fr-FR" dirty="0" err="1"/>
              <a:t>t</a:t>
            </a:r>
            <a:r>
              <a:rPr lang="fr-FR" dirty="0"/>
              <a:t> et un entier x, trouver tous les éléments de </a:t>
            </a:r>
            <a:r>
              <a:rPr lang="fr-FR" dirty="0" err="1"/>
              <a:t>t</a:t>
            </a:r>
            <a:r>
              <a:rPr lang="fr-FR" dirty="0"/>
              <a:t> qui sont plus petits que x. On veut construire l’ensemble E tel que y appartient à E si et seulement si y appartient à </a:t>
            </a:r>
            <a:r>
              <a:rPr lang="fr-FR" dirty="0" err="1"/>
              <a:t>t</a:t>
            </a:r>
            <a:r>
              <a:rPr lang="fr-FR" dirty="0"/>
              <a:t> et y ≤ x.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b="1" dirty="0"/>
              <a:t>Algorithme :</a:t>
            </a:r>
          </a:p>
          <a:p>
            <a:pPr marL="0" indent="0">
              <a:buNone/>
            </a:pPr>
            <a:r>
              <a:rPr lang="fr-FR" dirty="0"/>
              <a:t>Soit i = 0 et soit E= ∅. </a:t>
            </a:r>
          </a:p>
          <a:p>
            <a:pPr marL="0" indent="0">
              <a:buNone/>
            </a:pPr>
            <a:r>
              <a:rPr lang="fr-FR" dirty="0"/>
              <a:t>	Tant que i &lt; </a:t>
            </a:r>
            <a:r>
              <a:rPr lang="fr-FR" dirty="0" err="1"/>
              <a:t>len</a:t>
            </a:r>
            <a:r>
              <a:rPr lang="fr-FR" dirty="0"/>
              <a:t>(</a:t>
            </a:r>
            <a:r>
              <a:rPr lang="fr-FR" dirty="0" err="1"/>
              <a:t>t</a:t>
            </a:r>
            <a:r>
              <a:rPr lang="fr-FR" dirty="0"/>
              <a:t>), </a:t>
            </a:r>
          </a:p>
          <a:p>
            <a:pPr marL="0" indent="0">
              <a:buNone/>
            </a:pPr>
            <a:r>
              <a:rPr lang="fr-FR" dirty="0"/>
              <a:t>		si </a:t>
            </a:r>
            <a:r>
              <a:rPr lang="fr-FR" dirty="0" err="1"/>
              <a:t>t</a:t>
            </a:r>
            <a:r>
              <a:rPr lang="fr-FR" dirty="0"/>
              <a:t>[i] ≤x </a:t>
            </a:r>
            <a:r>
              <a:rPr lang="fr-FR" dirty="0" err="1"/>
              <a:t>ajoutert</a:t>
            </a:r>
            <a:r>
              <a:rPr lang="fr-FR" dirty="0"/>
              <a:t>[i] dans E , </a:t>
            </a:r>
          </a:p>
          <a:p>
            <a:pPr marL="0" indent="0">
              <a:buNone/>
            </a:pPr>
            <a:r>
              <a:rPr lang="fr-FR" dirty="0"/>
              <a:t>		dans tous les cas augmenter i de 1. </a:t>
            </a:r>
          </a:p>
          <a:p>
            <a:pPr marL="0" indent="0">
              <a:buNone/>
            </a:pPr>
            <a:r>
              <a:rPr lang="fr-FR" dirty="0"/>
              <a:t>Retourner E.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891257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4D6672-4D4F-EAA4-85EE-AF281CE92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Sélection d’éléments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140F50C-026F-6E14-5984-63BBE33140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FR" dirty="0"/>
              <a:t>Soit i = 0 et soit E= ∅. </a:t>
            </a:r>
          </a:p>
          <a:p>
            <a:pPr marL="0" indent="0">
              <a:buNone/>
            </a:pPr>
            <a:r>
              <a:rPr lang="fr-FR" dirty="0"/>
              <a:t>	Tant que i &lt; </a:t>
            </a:r>
            <a:r>
              <a:rPr lang="fr-FR" dirty="0" err="1"/>
              <a:t>len</a:t>
            </a:r>
            <a:r>
              <a:rPr lang="fr-FR" dirty="0"/>
              <a:t>(</a:t>
            </a:r>
            <a:r>
              <a:rPr lang="fr-FR" dirty="0" err="1"/>
              <a:t>t</a:t>
            </a:r>
            <a:r>
              <a:rPr lang="fr-FR" dirty="0"/>
              <a:t>), </a:t>
            </a:r>
          </a:p>
          <a:p>
            <a:pPr marL="0" indent="0">
              <a:buNone/>
            </a:pPr>
            <a:r>
              <a:rPr lang="fr-FR" dirty="0"/>
              <a:t>		si </a:t>
            </a:r>
            <a:r>
              <a:rPr lang="fr-FR" dirty="0" err="1"/>
              <a:t>t</a:t>
            </a:r>
            <a:r>
              <a:rPr lang="fr-FR" dirty="0"/>
              <a:t>[i] ≤x </a:t>
            </a:r>
          </a:p>
          <a:p>
            <a:pPr marL="0" indent="0">
              <a:buNone/>
            </a:pPr>
            <a:r>
              <a:rPr lang="fr-FR" dirty="0"/>
              <a:t>			</a:t>
            </a:r>
            <a:r>
              <a:rPr lang="fr-FR" dirty="0" err="1"/>
              <a:t>ajoutert</a:t>
            </a:r>
            <a:r>
              <a:rPr lang="fr-FR" dirty="0"/>
              <a:t>[i] dans E , </a:t>
            </a:r>
          </a:p>
          <a:p>
            <a:pPr marL="0" indent="0">
              <a:buNone/>
            </a:pPr>
            <a:r>
              <a:rPr lang="fr-FR" dirty="0"/>
              <a:t>		dans tous les cas 			augmenter i de 1. </a:t>
            </a:r>
          </a:p>
          <a:p>
            <a:pPr marL="0" indent="0">
              <a:buNone/>
            </a:pPr>
            <a:r>
              <a:rPr lang="fr-FR" dirty="0"/>
              <a:t>Retourner E.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406E78D2-1F6D-0375-6909-46F24A55B0A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FR" dirty="0"/>
              <a:t>Exemple</a:t>
            </a:r>
          </a:p>
          <a:p>
            <a:pPr marL="0" indent="0">
              <a:buNone/>
            </a:pPr>
            <a:r>
              <a:rPr lang="fr-FR" dirty="0" err="1"/>
              <a:t>t</a:t>
            </a:r>
            <a:r>
              <a:rPr lang="fr-FR" dirty="0"/>
              <a:t> =</a:t>
            </a:r>
          </a:p>
          <a:p>
            <a:pPr marL="0" indent="0">
              <a:buNone/>
            </a:pPr>
            <a:r>
              <a:rPr lang="fr-FR" dirty="0"/>
              <a:t>x=10 </a:t>
            </a:r>
          </a:p>
          <a:p>
            <a:pPr marL="0" indent="0">
              <a:buNone/>
            </a:pPr>
            <a:r>
              <a:rPr lang="fr-FR" dirty="0" err="1"/>
              <a:t>t</a:t>
            </a:r>
            <a:r>
              <a:rPr lang="fr-FR" dirty="0"/>
              <a:t>[i] = </a:t>
            </a:r>
            <a:r>
              <a:rPr lang="fr-FR" dirty="0" err="1"/>
              <a:t>t</a:t>
            </a:r>
            <a:r>
              <a:rPr lang="fr-FR" dirty="0"/>
              <a:t>[0] &gt; 10, E ne change pas, puis i = 1,</a:t>
            </a:r>
          </a:p>
          <a:p>
            <a:pPr marL="0" indent="0">
              <a:buNone/>
            </a:pPr>
            <a:r>
              <a:rPr lang="fr-FR" dirty="0" err="1"/>
              <a:t>t</a:t>
            </a:r>
            <a:r>
              <a:rPr lang="fr-FR" dirty="0"/>
              <a:t>[i] = </a:t>
            </a:r>
            <a:r>
              <a:rPr lang="fr-FR" dirty="0" err="1"/>
              <a:t>t</a:t>
            </a:r>
            <a:r>
              <a:rPr lang="fr-FR" dirty="0"/>
              <a:t>[1] &gt; 10, E ne change pas, puis i = 2,</a:t>
            </a:r>
          </a:p>
          <a:p>
            <a:pPr marL="0" indent="0">
              <a:buNone/>
            </a:pPr>
            <a:r>
              <a:rPr lang="fr-FR" dirty="0" err="1"/>
              <a:t>t</a:t>
            </a:r>
            <a:r>
              <a:rPr lang="fr-FR" dirty="0"/>
              <a:t>[i] = </a:t>
            </a:r>
            <a:r>
              <a:rPr lang="fr-FR" dirty="0" err="1"/>
              <a:t>t</a:t>
            </a:r>
            <a:r>
              <a:rPr lang="fr-FR" dirty="0"/>
              <a:t>[2] ≤10, E= {7}, puis i = 3,</a:t>
            </a:r>
          </a:p>
          <a:p>
            <a:pPr marL="0" indent="0">
              <a:buNone/>
            </a:pPr>
            <a:r>
              <a:rPr lang="fr-FR" dirty="0" err="1"/>
              <a:t>t</a:t>
            </a:r>
            <a:r>
              <a:rPr lang="fr-FR" dirty="0"/>
              <a:t>[i] = </a:t>
            </a:r>
            <a:r>
              <a:rPr lang="fr-FR" dirty="0" err="1"/>
              <a:t>t</a:t>
            </a:r>
            <a:r>
              <a:rPr lang="fr-FR" dirty="0"/>
              <a:t>[3] &gt; 10, E ne change pas, puis i = 4,</a:t>
            </a:r>
          </a:p>
          <a:p>
            <a:pPr marL="0" indent="0">
              <a:buNone/>
            </a:pPr>
            <a:r>
              <a:rPr lang="fr-FR" dirty="0" err="1"/>
              <a:t>t</a:t>
            </a:r>
            <a:r>
              <a:rPr lang="fr-FR" dirty="0"/>
              <a:t>[i] = </a:t>
            </a:r>
            <a:r>
              <a:rPr lang="fr-FR" dirty="0" err="1"/>
              <a:t>t</a:t>
            </a:r>
            <a:r>
              <a:rPr lang="fr-FR" dirty="0"/>
              <a:t>[4] ≤10, E= {7, 9}, puis i = 5,</a:t>
            </a:r>
          </a:p>
          <a:p>
            <a:pPr marL="0" indent="0">
              <a:buNone/>
            </a:pPr>
            <a:r>
              <a:rPr lang="fr-FR" dirty="0"/>
              <a:t>i = 5 = </a:t>
            </a:r>
            <a:r>
              <a:rPr lang="fr-FR" dirty="0" err="1"/>
              <a:t>len</a:t>
            </a:r>
            <a:r>
              <a:rPr lang="fr-FR" dirty="0"/>
              <a:t>(</a:t>
            </a:r>
            <a:r>
              <a:rPr lang="fr-FR" dirty="0" err="1"/>
              <a:t>t</a:t>
            </a:r>
            <a:r>
              <a:rPr lang="fr-FR" dirty="0"/>
              <a:t>), on retourne E= {7, 9}.</a:t>
            </a:r>
          </a:p>
          <a:p>
            <a:pPr marL="0" indent="0">
              <a:buNone/>
            </a:pPr>
            <a:r>
              <a:rPr lang="fr-FR" dirty="0"/>
              <a:t> 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06FE4D9E-61BC-6B58-B268-465AC83076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946507"/>
              </p:ext>
            </p:extLst>
          </p:nvPr>
        </p:nvGraphicFramePr>
        <p:xfrm>
          <a:off x="6803700" y="2165131"/>
          <a:ext cx="374869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738">
                  <a:extLst>
                    <a:ext uri="{9D8B030D-6E8A-4147-A177-3AD203B41FA5}">
                      <a16:colId xmlns:a16="http://schemas.microsoft.com/office/drawing/2014/main" val="2428685435"/>
                    </a:ext>
                  </a:extLst>
                </a:gridCol>
                <a:gridCol w="749738">
                  <a:extLst>
                    <a:ext uri="{9D8B030D-6E8A-4147-A177-3AD203B41FA5}">
                      <a16:colId xmlns:a16="http://schemas.microsoft.com/office/drawing/2014/main" val="4077065735"/>
                    </a:ext>
                  </a:extLst>
                </a:gridCol>
                <a:gridCol w="749738">
                  <a:extLst>
                    <a:ext uri="{9D8B030D-6E8A-4147-A177-3AD203B41FA5}">
                      <a16:colId xmlns:a16="http://schemas.microsoft.com/office/drawing/2014/main" val="3513407377"/>
                    </a:ext>
                  </a:extLst>
                </a:gridCol>
                <a:gridCol w="749738">
                  <a:extLst>
                    <a:ext uri="{9D8B030D-6E8A-4147-A177-3AD203B41FA5}">
                      <a16:colId xmlns:a16="http://schemas.microsoft.com/office/drawing/2014/main" val="2505454059"/>
                    </a:ext>
                  </a:extLst>
                </a:gridCol>
                <a:gridCol w="749738">
                  <a:extLst>
                    <a:ext uri="{9D8B030D-6E8A-4147-A177-3AD203B41FA5}">
                      <a16:colId xmlns:a16="http://schemas.microsoft.com/office/drawing/2014/main" val="3363715900"/>
                    </a:ext>
                  </a:extLst>
                </a:gridCol>
              </a:tblGrid>
              <a:tr h="333761">
                <a:tc>
                  <a:txBody>
                    <a:bodyPr/>
                    <a:lstStyle/>
                    <a:p>
                      <a:r>
                        <a:rPr lang="fr-FR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440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66263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41215-85BA-7CAD-CB1F-567B9FCCD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1CBCA2-2A51-E5E6-663B-E177183E5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Sélection d’éléments : nombre d’opérations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DB90E21-6FFC-71DF-D6CD-A093E4A8FE1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Soit i = 0 et soit E= ∅. </a:t>
            </a:r>
          </a:p>
          <a:p>
            <a:pPr marL="0" indent="0">
              <a:buNone/>
            </a:pPr>
            <a:r>
              <a:rPr lang="fr-FR" dirty="0"/>
              <a:t>	Tant que i &lt; </a:t>
            </a:r>
            <a:r>
              <a:rPr lang="fr-FR" dirty="0" err="1"/>
              <a:t>len</a:t>
            </a:r>
            <a:r>
              <a:rPr lang="fr-FR" dirty="0"/>
              <a:t>(</a:t>
            </a:r>
            <a:r>
              <a:rPr lang="fr-FR" dirty="0" err="1"/>
              <a:t>t</a:t>
            </a:r>
            <a:r>
              <a:rPr lang="fr-FR" dirty="0"/>
              <a:t>), </a:t>
            </a:r>
          </a:p>
          <a:p>
            <a:pPr marL="0" indent="0">
              <a:buNone/>
            </a:pPr>
            <a:r>
              <a:rPr lang="fr-FR" dirty="0"/>
              <a:t>		si </a:t>
            </a:r>
            <a:r>
              <a:rPr lang="fr-FR" dirty="0" err="1"/>
              <a:t>t</a:t>
            </a:r>
            <a:r>
              <a:rPr lang="fr-FR" dirty="0"/>
              <a:t>[i] ≤x </a:t>
            </a:r>
          </a:p>
          <a:p>
            <a:pPr marL="0" indent="0">
              <a:buNone/>
            </a:pPr>
            <a:r>
              <a:rPr lang="fr-FR" dirty="0"/>
              <a:t>			</a:t>
            </a:r>
            <a:r>
              <a:rPr lang="fr-FR" dirty="0" err="1"/>
              <a:t>ajoutert</a:t>
            </a:r>
            <a:r>
              <a:rPr lang="fr-FR" dirty="0"/>
              <a:t>[i] dans 			E , </a:t>
            </a:r>
          </a:p>
          <a:p>
            <a:pPr marL="0" indent="0">
              <a:buNone/>
            </a:pPr>
            <a:r>
              <a:rPr lang="fr-FR" dirty="0"/>
              <a:t>		dans tous les cas 			augmenter i de 1. </a:t>
            </a:r>
          </a:p>
          <a:p>
            <a:pPr marL="0" indent="0">
              <a:buNone/>
            </a:pPr>
            <a:r>
              <a:rPr lang="fr-FR" dirty="0"/>
              <a:t>Retourner E.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FBA9B86F-F392-5124-916E-4108F2683DF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Similaires à la recherche de minimum à condition que les opérations sur les ensembles soient simples.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150503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22F01A-C702-3477-CC1F-1E2529B57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Peut-on faire mieux ?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711DF213-0244-F9E6-82E8-31720A320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FR" b="1" dirty="0"/>
              <a:t>Bilan des nombres d’opérations n´nécessaires</a:t>
            </a:r>
          </a:p>
          <a:p>
            <a:pPr marL="0" indent="0">
              <a:buNone/>
            </a:pPr>
            <a:r>
              <a:rPr lang="fr-FR" dirty="0"/>
              <a:t>	Recherche d’élément : 3 ×</a:t>
            </a:r>
            <a:r>
              <a:rPr lang="fr-FR" dirty="0" err="1"/>
              <a:t>len</a:t>
            </a:r>
            <a:r>
              <a:rPr lang="fr-FR" dirty="0"/>
              <a:t>(</a:t>
            </a:r>
            <a:r>
              <a:rPr lang="fr-FR" dirty="0" err="1"/>
              <a:t>t</a:t>
            </a:r>
            <a:r>
              <a:rPr lang="fr-FR" dirty="0"/>
              <a:t>) + 1</a:t>
            </a:r>
          </a:p>
          <a:p>
            <a:pPr marL="0" indent="0">
              <a:buNone/>
            </a:pPr>
            <a:r>
              <a:rPr lang="fr-FR" dirty="0"/>
              <a:t>	Recherche de minimum et sélection d’éléments : 4 ×</a:t>
            </a:r>
            <a:r>
              <a:rPr lang="fr-FR" dirty="0" err="1"/>
              <a:t>len</a:t>
            </a:r>
            <a:r>
              <a:rPr lang="fr-FR" dirty="0"/>
              <a:t>(</a:t>
            </a:r>
            <a:r>
              <a:rPr lang="fr-FR" dirty="0" err="1"/>
              <a:t>t</a:t>
            </a:r>
            <a:r>
              <a:rPr lang="fr-FR" dirty="0"/>
              <a:t>)−2</a:t>
            </a:r>
          </a:p>
          <a:p>
            <a:pPr marL="0" indent="0">
              <a:buNone/>
            </a:pPr>
            <a:r>
              <a:rPr lang="fr-FR" b="1" dirty="0"/>
              <a:t>Ordres de grandeur</a:t>
            </a:r>
          </a:p>
          <a:p>
            <a:pPr marL="0" indent="0">
              <a:buNone/>
            </a:pPr>
            <a:r>
              <a:rPr lang="fr-FR" dirty="0"/>
              <a:t>	Les constantes peuvent varier dans ces nombres d’opérations (en fonction de l’implantation de l’algorithme, du compilateur, du processeur) mais ils restent linéaires en la taille du tableau :O(n)</a:t>
            </a:r>
          </a:p>
          <a:p>
            <a:pPr marL="0" indent="0">
              <a:buNone/>
            </a:pPr>
            <a:r>
              <a:rPr lang="fr-FR" b="1" dirty="0"/>
              <a:t>Des algorithmes pour réduire l’ordre de grandeur</a:t>
            </a:r>
          </a:p>
          <a:p>
            <a:pPr marL="0" indent="0">
              <a:buNone/>
            </a:pPr>
            <a:r>
              <a:rPr lang="fr-FR" dirty="0"/>
              <a:t>	On ne peut pas faire mieux sur des tableaux quelconques, mais si on sait que les 	tableaux que l’on aura en entrée ont certaines propriétés c’est </a:t>
            </a:r>
            <a:r>
              <a:rPr lang="fr-FR" dirty="0" err="1"/>
              <a:t>diﬀérent</a:t>
            </a:r>
            <a:r>
              <a:rPr lang="fr-FR" dirty="0"/>
              <a:t> :</a:t>
            </a:r>
          </a:p>
          <a:p>
            <a:pPr marL="0" indent="0">
              <a:buNone/>
            </a:pPr>
            <a:r>
              <a:rPr lang="fr-FR" dirty="0"/>
              <a:t>		borne sur la valeur maximum qu’ils contiennent,</a:t>
            </a:r>
          </a:p>
          <a:p>
            <a:pPr marL="0" indent="0">
              <a:buNone/>
            </a:pPr>
            <a:r>
              <a:rPr lang="fr-FR" dirty="0"/>
              <a:t>		valeurs triées</a:t>
            </a:r>
          </a:p>
          <a:p>
            <a:pPr marL="0" indent="0">
              <a:buNone/>
            </a:pPr>
            <a:r>
              <a:rPr lang="fr-FR" dirty="0"/>
              <a:t>		…</a:t>
            </a:r>
          </a:p>
        </p:txBody>
      </p:sp>
    </p:spTree>
    <p:extLst>
      <p:ext uri="{BB962C8B-B14F-4D97-AF65-F5344CB8AC3E}">
        <p14:creationId xmlns:p14="http://schemas.microsoft.com/office/powerpoint/2010/main" val="21767358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11C0B3-C1AB-1155-8902-8E8964608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Recherche d’élément dans un tableau trié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477EB1-2B6E-C1BE-B26E-6A9459143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Tableau trié</a:t>
            </a:r>
          </a:p>
          <a:p>
            <a:pPr marL="0" indent="0">
              <a:buNone/>
            </a:pPr>
            <a:r>
              <a:rPr lang="fr-FR" dirty="0"/>
              <a:t>	Etant donnés un tableau </a:t>
            </a:r>
            <a:r>
              <a:rPr lang="fr-FR" dirty="0" err="1"/>
              <a:t>t</a:t>
            </a:r>
            <a:r>
              <a:rPr lang="fr-FR" dirty="0"/>
              <a:t> et un ordre total ≤ sur les éléments du</a:t>
            </a:r>
          </a:p>
          <a:p>
            <a:pPr marL="0" indent="0">
              <a:buNone/>
            </a:pPr>
            <a:r>
              <a:rPr lang="fr-FR" dirty="0"/>
              <a:t>tableau, on dit que </a:t>
            </a:r>
            <a:r>
              <a:rPr lang="fr-FR" dirty="0" err="1"/>
              <a:t>t</a:t>
            </a:r>
            <a:r>
              <a:rPr lang="fr-FR" dirty="0"/>
              <a:t> est un tableau trié si et seulement si</a:t>
            </a:r>
          </a:p>
          <a:p>
            <a:pPr marL="0" indent="0">
              <a:buNone/>
            </a:pPr>
            <a:r>
              <a:rPr lang="fr-FR" dirty="0"/>
              <a:t>∀i &lt; j ∈[0, </a:t>
            </a:r>
            <a:r>
              <a:rPr lang="fr-FR" dirty="0" err="1"/>
              <a:t>len</a:t>
            </a:r>
            <a:r>
              <a:rPr lang="fr-FR" dirty="0"/>
              <a:t>(</a:t>
            </a:r>
            <a:r>
              <a:rPr lang="fr-FR" dirty="0" err="1"/>
              <a:t>t</a:t>
            </a:r>
            <a:r>
              <a:rPr lang="fr-FR" dirty="0"/>
              <a:t>)[, </a:t>
            </a:r>
            <a:r>
              <a:rPr lang="fr-FR" dirty="0" err="1"/>
              <a:t>t</a:t>
            </a:r>
            <a:r>
              <a:rPr lang="fr-FR" dirty="0"/>
              <a:t>[i] ≤</a:t>
            </a:r>
            <a:r>
              <a:rPr lang="fr-FR" dirty="0" err="1"/>
              <a:t>t</a:t>
            </a:r>
            <a:r>
              <a:rPr lang="fr-FR" dirty="0"/>
              <a:t>[j].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Rem : </a:t>
            </a:r>
          </a:p>
          <a:p>
            <a:pPr marL="0" indent="0">
              <a:buNone/>
            </a:pPr>
            <a:r>
              <a:rPr lang="fr-FR" dirty="0"/>
              <a:t>Dans ce cours on utilise des tableaux d’entiers, et on prendra la relation plus petit ou égal pour les trier.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900213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742BF-8CEA-2839-07AC-45CBEFAC1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999414-FA89-D02F-A270-C586A36C7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Recherche d’élément dans un tableau trié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76402D-659D-ABB4-D8EB-72EB3369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Tableau trié</a:t>
            </a:r>
          </a:p>
          <a:p>
            <a:pPr marL="0" indent="0">
              <a:buNone/>
            </a:pPr>
            <a:r>
              <a:rPr lang="fr-FR" dirty="0"/>
              <a:t>	Etant donnés un tableau </a:t>
            </a:r>
            <a:r>
              <a:rPr lang="fr-FR" dirty="0" err="1"/>
              <a:t>t</a:t>
            </a:r>
            <a:r>
              <a:rPr lang="fr-FR" dirty="0"/>
              <a:t> et un ordre total ≤ sur les éléments du</a:t>
            </a:r>
          </a:p>
          <a:p>
            <a:pPr marL="0" indent="0">
              <a:buNone/>
            </a:pPr>
            <a:r>
              <a:rPr lang="fr-FR" dirty="0"/>
              <a:t>tableau, on dit que </a:t>
            </a:r>
            <a:r>
              <a:rPr lang="fr-FR" dirty="0" err="1"/>
              <a:t>t</a:t>
            </a:r>
            <a:r>
              <a:rPr lang="fr-FR" dirty="0"/>
              <a:t> est un tableau trié si et seulement si</a:t>
            </a:r>
          </a:p>
          <a:p>
            <a:pPr marL="0" indent="0">
              <a:buNone/>
            </a:pPr>
            <a:r>
              <a:rPr lang="fr-FR" dirty="0"/>
              <a:t>∀i &lt; j ∈[0, </a:t>
            </a:r>
            <a:r>
              <a:rPr lang="fr-FR" dirty="0" err="1"/>
              <a:t>len</a:t>
            </a:r>
            <a:r>
              <a:rPr lang="fr-FR" dirty="0"/>
              <a:t>(</a:t>
            </a:r>
            <a:r>
              <a:rPr lang="fr-FR" dirty="0" err="1"/>
              <a:t>t</a:t>
            </a:r>
            <a:r>
              <a:rPr lang="fr-FR" dirty="0"/>
              <a:t>)[, </a:t>
            </a:r>
            <a:r>
              <a:rPr lang="fr-FR" dirty="0" err="1"/>
              <a:t>t</a:t>
            </a:r>
            <a:r>
              <a:rPr lang="fr-FR" dirty="0"/>
              <a:t>[i] ≤</a:t>
            </a:r>
            <a:r>
              <a:rPr lang="fr-FR" dirty="0" err="1"/>
              <a:t>t</a:t>
            </a:r>
            <a:r>
              <a:rPr lang="fr-FR" dirty="0"/>
              <a:t>[j].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t</a:t>
            </a:r>
            <a:r>
              <a:rPr lang="fr-FR" dirty="0"/>
              <a:t> =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Comment trouver un élément en regardant strictement moins de 7 cases ? (pire cas de l’algorithme  vu précédemment)</a:t>
            </a:r>
          </a:p>
          <a:p>
            <a:pPr marL="0" indent="0">
              <a:buNone/>
            </a:pPr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2EF7C4FD-7020-DB00-25DA-0F7AF6B91C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997311"/>
              </p:ext>
            </p:extLst>
          </p:nvPr>
        </p:nvGraphicFramePr>
        <p:xfrm>
          <a:off x="1506486" y="4183116"/>
          <a:ext cx="374868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527">
                  <a:extLst>
                    <a:ext uri="{9D8B030D-6E8A-4147-A177-3AD203B41FA5}">
                      <a16:colId xmlns:a16="http://schemas.microsoft.com/office/drawing/2014/main" val="2428685435"/>
                    </a:ext>
                  </a:extLst>
                </a:gridCol>
                <a:gridCol w="535527">
                  <a:extLst>
                    <a:ext uri="{9D8B030D-6E8A-4147-A177-3AD203B41FA5}">
                      <a16:colId xmlns:a16="http://schemas.microsoft.com/office/drawing/2014/main" val="4077065735"/>
                    </a:ext>
                  </a:extLst>
                </a:gridCol>
                <a:gridCol w="535527">
                  <a:extLst>
                    <a:ext uri="{9D8B030D-6E8A-4147-A177-3AD203B41FA5}">
                      <a16:colId xmlns:a16="http://schemas.microsoft.com/office/drawing/2014/main" val="3513407377"/>
                    </a:ext>
                  </a:extLst>
                </a:gridCol>
                <a:gridCol w="535527">
                  <a:extLst>
                    <a:ext uri="{9D8B030D-6E8A-4147-A177-3AD203B41FA5}">
                      <a16:colId xmlns:a16="http://schemas.microsoft.com/office/drawing/2014/main" val="2505454059"/>
                    </a:ext>
                  </a:extLst>
                </a:gridCol>
                <a:gridCol w="535527">
                  <a:extLst>
                    <a:ext uri="{9D8B030D-6E8A-4147-A177-3AD203B41FA5}">
                      <a16:colId xmlns:a16="http://schemas.microsoft.com/office/drawing/2014/main" val="3363715900"/>
                    </a:ext>
                  </a:extLst>
                </a:gridCol>
                <a:gridCol w="535527">
                  <a:extLst>
                    <a:ext uri="{9D8B030D-6E8A-4147-A177-3AD203B41FA5}">
                      <a16:colId xmlns:a16="http://schemas.microsoft.com/office/drawing/2014/main" val="1618461386"/>
                    </a:ext>
                  </a:extLst>
                </a:gridCol>
                <a:gridCol w="535527">
                  <a:extLst>
                    <a:ext uri="{9D8B030D-6E8A-4147-A177-3AD203B41FA5}">
                      <a16:colId xmlns:a16="http://schemas.microsoft.com/office/drawing/2014/main" val="2869140355"/>
                    </a:ext>
                  </a:extLst>
                </a:gridCol>
              </a:tblGrid>
              <a:tr h="333761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440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38932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567F0-D770-36E6-77AF-72E71E3DE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F17F05-6437-AB08-B51C-44B5FB64F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Recherche d’élément dans un tableau trié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C1DE60A-93D6-4048-B750-CBED86958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err="1"/>
              <a:t>t</a:t>
            </a:r>
            <a:r>
              <a:rPr lang="fr-FR" dirty="0"/>
              <a:t> =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Comment trouver un élément en regardant strictement moins de 7 cases ? (pire cas de l’algorithme  vu précédemment)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/>
              <a:t>Recherche dichotomique</a:t>
            </a:r>
          </a:p>
          <a:p>
            <a:pPr marL="0" indent="0">
              <a:buNone/>
            </a:pPr>
            <a:r>
              <a:rPr lang="fr-FR" dirty="0"/>
              <a:t>x=11 </a:t>
            </a:r>
          </a:p>
          <a:p>
            <a:pPr marL="0" indent="0">
              <a:buNone/>
            </a:pPr>
            <a:endParaRPr lang="fr-FR" dirty="0"/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C879DCE5-17B3-80A0-E128-764BC2A6AD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97296"/>
              </p:ext>
            </p:extLst>
          </p:nvPr>
        </p:nvGraphicFramePr>
        <p:xfrm>
          <a:off x="1443424" y="1912881"/>
          <a:ext cx="374868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527">
                  <a:extLst>
                    <a:ext uri="{9D8B030D-6E8A-4147-A177-3AD203B41FA5}">
                      <a16:colId xmlns:a16="http://schemas.microsoft.com/office/drawing/2014/main" val="2428685435"/>
                    </a:ext>
                  </a:extLst>
                </a:gridCol>
                <a:gridCol w="535527">
                  <a:extLst>
                    <a:ext uri="{9D8B030D-6E8A-4147-A177-3AD203B41FA5}">
                      <a16:colId xmlns:a16="http://schemas.microsoft.com/office/drawing/2014/main" val="4077065735"/>
                    </a:ext>
                  </a:extLst>
                </a:gridCol>
                <a:gridCol w="535527">
                  <a:extLst>
                    <a:ext uri="{9D8B030D-6E8A-4147-A177-3AD203B41FA5}">
                      <a16:colId xmlns:a16="http://schemas.microsoft.com/office/drawing/2014/main" val="3513407377"/>
                    </a:ext>
                  </a:extLst>
                </a:gridCol>
                <a:gridCol w="535527">
                  <a:extLst>
                    <a:ext uri="{9D8B030D-6E8A-4147-A177-3AD203B41FA5}">
                      <a16:colId xmlns:a16="http://schemas.microsoft.com/office/drawing/2014/main" val="2505454059"/>
                    </a:ext>
                  </a:extLst>
                </a:gridCol>
                <a:gridCol w="535527">
                  <a:extLst>
                    <a:ext uri="{9D8B030D-6E8A-4147-A177-3AD203B41FA5}">
                      <a16:colId xmlns:a16="http://schemas.microsoft.com/office/drawing/2014/main" val="3363715900"/>
                    </a:ext>
                  </a:extLst>
                </a:gridCol>
                <a:gridCol w="535527">
                  <a:extLst>
                    <a:ext uri="{9D8B030D-6E8A-4147-A177-3AD203B41FA5}">
                      <a16:colId xmlns:a16="http://schemas.microsoft.com/office/drawing/2014/main" val="1618461386"/>
                    </a:ext>
                  </a:extLst>
                </a:gridCol>
                <a:gridCol w="535527">
                  <a:extLst>
                    <a:ext uri="{9D8B030D-6E8A-4147-A177-3AD203B41FA5}">
                      <a16:colId xmlns:a16="http://schemas.microsoft.com/office/drawing/2014/main" val="2869140355"/>
                    </a:ext>
                  </a:extLst>
                </a:gridCol>
              </a:tblGrid>
              <a:tr h="333761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440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01708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22BB3-8A82-8042-7A04-7AC8066CA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EAD30F-952F-2C1B-B1E1-3FD5C19A4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Recherche d’élément dans un tableau trié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70C980-0C85-DD83-51DC-2EDF42762A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 err="1"/>
              <a:t>t</a:t>
            </a:r>
            <a:r>
              <a:rPr lang="fr-FR" dirty="0"/>
              <a:t> = </a:t>
            </a:r>
          </a:p>
          <a:p>
            <a:pPr marL="0" indent="0">
              <a:buNone/>
            </a:pPr>
            <a:r>
              <a:rPr lang="fr-FR" dirty="0"/>
              <a:t>Recherche dichotomique</a:t>
            </a:r>
          </a:p>
          <a:p>
            <a:pPr marL="0" indent="0">
              <a:buNone/>
            </a:pPr>
            <a:r>
              <a:rPr lang="fr-FR" dirty="0"/>
              <a:t>x=11 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AF50052C-1745-6909-7A44-1D56823F64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indices [0, 7[, le milieu est 3 et </a:t>
            </a:r>
            <a:r>
              <a:rPr lang="fr-FR" dirty="0" err="1"/>
              <a:t>t</a:t>
            </a:r>
            <a:r>
              <a:rPr lang="fr-FR" dirty="0"/>
              <a:t>[3] = 12 &gt; x, </a:t>
            </a:r>
          </a:p>
          <a:p>
            <a:pPr marL="0" indent="0">
              <a:buNone/>
            </a:pPr>
            <a:r>
              <a:rPr lang="fr-FR" dirty="0"/>
              <a:t>x ne peut être trouvé que dans les indices [0, 2],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indices [0, 3[, le milieu est 1 et </a:t>
            </a:r>
            <a:r>
              <a:rPr lang="fr-FR" dirty="0" err="1"/>
              <a:t>t</a:t>
            </a:r>
            <a:r>
              <a:rPr lang="fr-FR" dirty="0"/>
              <a:t>[1] = 9 &lt; x, </a:t>
            </a:r>
          </a:p>
          <a:p>
            <a:pPr marL="0" indent="0">
              <a:buNone/>
            </a:pPr>
            <a:r>
              <a:rPr lang="fr-FR" dirty="0"/>
              <a:t>x ne peut  être trouvé qu’à l’indice 2,</a:t>
            </a:r>
          </a:p>
          <a:p>
            <a:pPr marL="0" indent="0">
              <a:buNone/>
            </a:pPr>
            <a:r>
              <a:rPr lang="fr-FR" dirty="0" err="1"/>
              <a:t>t</a:t>
            </a:r>
            <a:r>
              <a:rPr lang="fr-FR" dirty="0"/>
              <a:t>[2] = 11 = x, on a trouvé. </a:t>
            </a:r>
          </a:p>
          <a:p>
            <a:pPr marL="0" indent="0">
              <a:buNone/>
            </a:pPr>
            <a:endParaRPr lang="fr-FR" dirty="0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EF2B4D77-8C47-B2FE-364B-8F9A3028D4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242614"/>
              </p:ext>
            </p:extLst>
          </p:nvPr>
        </p:nvGraphicFramePr>
        <p:xfrm>
          <a:off x="1411893" y="1902371"/>
          <a:ext cx="374868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527">
                  <a:extLst>
                    <a:ext uri="{9D8B030D-6E8A-4147-A177-3AD203B41FA5}">
                      <a16:colId xmlns:a16="http://schemas.microsoft.com/office/drawing/2014/main" val="2428685435"/>
                    </a:ext>
                  </a:extLst>
                </a:gridCol>
                <a:gridCol w="535527">
                  <a:extLst>
                    <a:ext uri="{9D8B030D-6E8A-4147-A177-3AD203B41FA5}">
                      <a16:colId xmlns:a16="http://schemas.microsoft.com/office/drawing/2014/main" val="4077065735"/>
                    </a:ext>
                  </a:extLst>
                </a:gridCol>
                <a:gridCol w="535527">
                  <a:extLst>
                    <a:ext uri="{9D8B030D-6E8A-4147-A177-3AD203B41FA5}">
                      <a16:colId xmlns:a16="http://schemas.microsoft.com/office/drawing/2014/main" val="3513407377"/>
                    </a:ext>
                  </a:extLst>
                </a:gridCol>
                <a:gridCol w="535527">
                  <a:extLst>
                    <a:ext uri="{9D8B030D-6E8A-4147-A177-3AD203B41FA5}">
                      <a16:colId xmlns:a16="http://schemas.microsoft.com/office/drawing/2014/main" val="2505454059"/>
                    </a:ext>
                  </a:extLst>
                </a:gridCol>
                <a:gridCol w="535527">
                  <a:extLst>
                    <a:ext uri="{9D8B030D-6E8A-4147-A177-3AD203B41FA5}">
                      <a16:colId xmlns:a16="http://schemas.microsoft.com/office/drawing/2014/main" val="3363715900"/>
                    </a:ext>
                  </a:extLst>
                </a:gridCol>
                <a:gridCol w="535527">
                  <a:extLst>
                    <a:ext uri="{9D8B030D-6E8A-4147-A177-3AD203B41FA5}">
                      <a16:colId xmlns:a16="http://schemas.microsoft.com/office/drawing/2014/main" val="1618461386"/>
                    </a:ext>
                  </a:extLst>
                </a:gridCol>
                <a:gridCol w="535527">
                  <a:extLst>
                    <a:ext uri="{9D8B030D-6E8A-4147-A177-3AD203B41FA5}">
                      <a16:colId xmlns:a16="http://schemas.microsoft.com/office/drawing/2014/main" val="2869140355"/>
                    </a:ext>
                  </a:extLst>
                </a:gridCol>
              </a:tblGrid>
              <a:tr h="333761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440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13688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4C20E-DDB1-BB7F-5089-B0DDDA804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3DB7B0-0BA9-86AB-5476-698CA515E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Recherche d’élément dans un tableau trié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2AA6A6-023A-94BB-8F73-A88D5D9B0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FR" dirty="0"/>
              <a:t>Soit </a:t>
            </a:r>
            <a:r>
              <a:rPr lang="fr-FR" dirty="0" err="1"/>
              <a:t>debut</a:t>
            </a:r>
            <a:r>
              <a:rPr lang="fr-FR" dirty="0"/>
              <a:t> = 0, soit fin= </a:t>
            </a:r>
            <a:r>
              <a:rPr lang="fr-FR" dirty="0" err="1"/>
              <a:t>len</a:t>
            </a:r>
            <a:r>
              <a:rPr lang="fr-FR" dirty="0"/>
              <a:t>(</a:t>
            </a:r>
            <a:r>
              <a:rPr lang="fr-FR" dirty="0" err="1"/>
              <a:t>t</a:t>
            </a:r>
            <a:r>
              <a:rPr lang="fr-FR" dirty="0"/>
              <a:t>).</a:t>
            </a:r>
          </a:p>
          <a:p>
            <a:pPr marL="0" indent="0">
              <a:buNone/>
            </a:pPr>
            <a:r>
              <a:rPr lang="fr-FR" dirty="0"/>
              <a:t>Tant que </a:t>
            </a:r>
            <a:r>
              <a:rPr lang="fr-FR" dirty="0" err="1"/>
              <a:t>debut</a:t>
            </a:r>
            <a:r>
              <a:rPr lang="fr-FR" dirty="0"/>
              <a:t> &lt; fin,</a:t>
            </a:r>
          </a:p>
          <a:p>
            <a:pPr marL="0" indent="0">
              <a:buNone/>
            </a:pPr>
            <a:r>
              <a:rPr lang="fr-FR" dirty="0"/>
              <a:t>	soit milieu = (</a:t>
            </a:r>
            <a:r>
              <a:rPr lang="fr-FR" dirty="0" err="1"/>
              <a:t>debut</a:t>
            </a:r>
            <a:r>
              <a:rPr lang="fr-FR" dirty="0"/>
              <a:t> + fin)/2,</a:t>
            </a:r>
          </a:p>
          <a:p>
            <a:pPr marL="0" indent="0">
              <a:buNone/>
            </a:pPr>
            <a:r>
              <a:rPr lang="fr-FR" dirty="0"/>
              <a:t>	si </a:t>
            </a:r>
            <a:r>
              <a:rPr lang="fr-FR" dirty="0" err="1"/>
              <a:t>t</a:t>
            </a:r>
            <a:r>
              <a:rPr lang="fr-FR" dirty="0"/>
              <a:t>[milieu] = x, </a:t>
            </a:r>
          </a:p>
          <a:p>
            <a:pPr marL="0" indent="0">
              <a:buNone/>
            </a:pPr>
            <a:r>
              <a:rPr lang="fr-FR" dirty="0"/>
              <a:t>		retourner (</a:t>
            </a:r>
            <a:r>
              <a:rPr lang="fr-FR" dirty="0" err="1"/>
              <a:t>true</a:t>
            </a:r>
            <a:r>
              <a:rPr lang="fr-FR" dirty="0"/>
              <a:t>, milieu),</a:t>
            </a:r>
          </a:p>
          <a:p>
            <a:pPr marL="0" indent="0">
              <a:buNone/>
            </a:pPr>
            <a:r>
              <a:rPr lang="fr-FR" dirty="0"/>
              <a:t>	sinon </a:t>
            </a:r>
          </a:p>
          <a:p>
            <a:pPr marL="0" indent="0">
              <a:buNone/>
            </a:pPr>
            <a:r>
              <a:rPr lang="fr-FR" dirty="0"/>
              <a:t>		si </a:t>
            </a:r>
            <a:r>
              <a:rPr lang="fr-FR" dirty="0" err="1"/>
              <a:t>t</a:t>
            </a:r>
            <a:r>
              <a:rPr lang="fr-FR" dirty="0"/>
              <a:t>[milieu] &gt; x, </a:t>
            </a:r>
          </a:p>
          <a:p>
            <a:pPr marL="0" indent="0">
              <a:buNone/>
            </a:pPr>
            <a:r>
              <a:rPr lang="fr-FR" dirty="0"/>
              <a:t>			poser fin= milieu,</a:t>
            </a:r>
          </a:p>
          <a:p>
            <a:pPr marL="0" indent="0">
              <a:buNone/>
            </a:pPr>
            <a:r>
              <a:rPr lang="fr-FR" dirty="0"/>
              <a:t>		sinon </a:t>
            </a:r>
          </a:p>
          <a:p>
            <a:pPr marL="0" indent="0">
              <a:buNone/>
            </a:pPr>
            <a:r>
              <a:rPr lang="fr-FR" dirty="0"/>
              <a:t>			si </a:t>
            </a:r>
            <a:r>
              <a:rPr lang="fr-FR" dirty="0" err="1"/>
              <a:t>t</a:t>
            </a:r>
            <a:r>
              <a:rPr lang="fr-FR" dirty="0"/>
              <a:t>[milieu] &lt; x, </a:t>
            </a:r>
          </a:p>
          <a:p>
            <a:pPr marL="0" indent="0">
              <a:buNone/>
            </a:pPr>
            <a:r>
              <a:rPr lang="fr-FR" dirty="0"/>
              <a:t>				poser </a:t>
            </a:r>
            <a:r>
              <a:rPr lang="fr-FR" dirty="0" err="1"/>
              <a:t>debut</a:t>
            </a:r>
            <a:r>
              <a:rPr lang="fr-FR" dirty="0"/>
              <a:t>= milieu + 1.</a:t>
            </a:r>
          </a:p>
          <a:p>
            <a:pPr marL="0" indent="0">
              <a:buNone/>
            </a:pPr>
            <a:r>
              <a:rPr lang="fr-FR" dirty="0"/>
              <a:t>Retourner (false,−1).</a:t>
            </a:r>
          </a:p>
          <a:p>
            <a:pPr marL="0" indent="0">
              <a:buNone/>
            </a:pPr>
            <a:endParaRPr lang="fr-FR" dirty="0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94BD3011-933F-26B3-0E37-3DBE0E40F7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431086"/>
              </p:ext>
            </p:extLst>
          </p:nvPr>
        </p:nvGraphicFramePr>
        <p:xfrm>
          <a:off x="6096000" y="2091558"/>
          <a:ext cx="374868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527">
                  <a:extLst>
                    <a:ext uri="{9D8B030D-6E8A-4147-A177-3AD203B41FA5}">
                      <a16:colId xmlns:a16="http://schemas.microsoft.com/office/drawing/2014/main" val="2428685435"/>
                    </a:ext>
                  </a:extLst>
                </a:gridCol>
                <a:gridCol w="535527">
                  <a:extLst>
                    <a:ext uri="{9D8B030D-6E8A-4147-A177-3AD203B41FA5}">
                      <a16:colId xmlns:a16="http://schemas.microsoft.com/office/drawing/2014/main" val="4077065735"/>
                    </a:ext>
                  </a:extLst>
                </a:gridCol>
                <a:gridCol w="535527">
                  <a:extLst>
                    <a:ext uri="{9D8B030D-6E8A-4147-A177-3AD203B41FA5}">
                      <a16:colId xmlns:a16="http://schemas.microsoft.com/office/drawing/2014/main" val="3513407377"/>
                    </a:ext>
                  </a:extLst>
                </a:gridCol>
                <a:gridCol w="535527">
                  <a:extLst>
                    <a:ext uri="{9D8B030D-6E8A-4147-A177-3AD203B41FA5}">
                      <a16:colId xmlns:a16="http://schemas.microsoft.com/office/drawing/2014/main" val="2505454059"/>
                    </a:ext>
                  </a:extLst>
                </a:gridCol>
                <a:gridCol w="535527">
                  <a:extLst>
                    <a:ext uri="{9D8B030D-6E8A-4147-A177-3AD203B41FA5}">
                      <a16:colId xmlns:a16="http://schemas.microsoft.com/office/drawing/2014/main" val="3363715900"/>
                    </a:ext>
                  </a:extLst>
                </a:gridCol>
                <a:gridCol w="535527">
                  <a:extLst>
                    <a:ext uri="{9D8B030D-6E8A-4147-A177-3AD203B41FA5}">
                      <a16:colId xmlns:a16="http://schemas.microsoft.com/office/drawing/2014/main" val="1618461386"/>
                    </a:ext>
                  </a:extLst>
                </a:gridCol>
                <a:gridCol w="535527">
                  <a:extLst>
                    <a:ext uri="{9D8B030D-6E8A-4147-A177-3AD203B41FA5}">
                      <a16:colId xmlns:a16="http://schemas.microsoft.com/office/drawing/2014/main" val="2869140355"/>
                    </a:ext>
                  </a:extLst>
                </a:gridCol>
              </a:tblGrid>
              <a:tr h="333761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440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91825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A7C7F-E4F5-285C-6121-AFC6EB0D8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B5ECF6-DA73-E9F0-1A16-D818B89E1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Recherche d’élément dans un tableau trié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6FA990-5F81-37DD-57AD-2DAE069CA0A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dirty="0"/>
              <a:t>Soit </a:t>
            </a:r>
            <a:r>
              <a:rPr lang="fr-FR" dirty="0" err="1"/>
              <a:t>debut</a:t>
            </a:r>
            <a:r>
              <a:rPr lang="fr-FR" dirty="0"/>
              <a:t> = 0, soit fin= </a:t>
            </a:r>
            <a:r>
              <a:rPr lang="fr-FR" dirty="0" err="1"/>
              <a:t>len</a:t>
            </a:r>
            <a:r>
              <a:rPr lang="fr-FR" dirty="0"/>
              <a:t>(</a:t>
            </a:r>
            <a:r>
              <a:rPr lang="fr-FR" dirty="0" err="1"/>
              <a:t>t</a:t>
            </a:r>
            <a:r>
              <a:rPr lang="fr-FR" dirty="0"/>
              <a:t>).</a:t>
            </a:r>
          </a:p>
          <a:p>
            <a:pPr marL="0" indent="0">
              <a:buNone/>
            </a:pPr>
            <a:r>
              <a:rPr lang="fr-FR" dirty="0"/>
              <a:t>Tant que </a:t>
            </a:r>
            <a:r>
              <a:rPr lang="fr-FR" dirty="0" err="1"/>
              <a:t>debut</a:t>
            </a:r>
            <a:r>
              <a:rPr lang="fr-FR" dirty="0"/>
              <a:t> &lt; fin,</a:t>
            </a:r>
          </a:p>
          <a:p>
            <a:pPr marL="0" indent="0">
              <a:buNone/>
            </a:pPr>
            <a:r>
              <a:rPr lang="fr-FR" dirty="0"/>
              <a:t>	soit milieu = (</a:t>
            </a:r>
            <a:r>
              <a:rPr lang="fr-FR" dirty="0" err="1"/>
              <a:t>debut</a:t>
            </a:r>
            <a:r>
              <a:rPr lang="fr-FR" dirty="0"/>
              <a:t> + fin)/2,</a:t>
            </a:r>
          </a:p>
          <a:p>
            <a:pPr marL="0" indent="0">
              <a:buNone/>
            </a:pPr>
            <a:r>
              <a:rPr lang="fr-FR" dirty="0"/>
              <a:t>	si </a:t>
            </a:r>
            <a:r>
              <a:rPr lang="fr-FR" dirty="0" err="1"/>
              <a:t>t</a:t>
            </a:r>
            <a:r>
              <a:rPr lang="fr-FR" dirty="0"/>
              <a:t>[milieu] = x, </a:t>
            </a:r>
          </a:p>
          <a:p>
            <a:pPr marL="0" indent="0">
              <a:buNone/>
            </a:pPr>
            <a:r>
              <a:rPr lang="fr-FR" dirty="0"/>
              <a:t>		retourner (</a:t>
            </a:r>
            <a:r>
              <a:rPr lang="fr-FR" dirty="0" err="1"/>
              <a:t>true</a:t>
            </a:r>
            <a:r>
              <a:rPr lang="fr-FR" dirty="0"/>
              <a:t>, milieu),</a:t>
            </a:r>
          </a:p>
          <a:p>
            <a:pPr marL="0" indent="0">
              <a:buNone/>
            </a:pPr>
            <a:r>
              <a:rPr lang="fr-FR" dirty="0"/>
              <a:t>	sinon </a:t>
            </a:r>
          </a:p>
          <a:p>
            <a:pPr marL="0" indent="0">
              <a:buNone/>
            </a:pPr>
            <a:r>
              <a:rPr lang="fr-FR" dirty="0"/>
              <a:t>		si </a:t>
            </a:r>
            <a:r>
              <a:rPr lang="fr-FR" dirty="0" err="1"/>
              <a:t>t</a:t>
            </a:r>
            <a:r>
              <a:rPr lang="fr-FR" dirty="0"/>
              <a:t>[milieu] &gt; x, </a:t>
            </a:r>
          </a:p>
          <a:p>
            <a:pPr marL="0" indent="0">
              <a:buNone/>
            </a:pPr>
            <a:r>
              <a:rPr lang="fr-FR" dirty="0"/>
              <a:t>			poser fin= milieu,</a:t>
            </a:r>
          </a:p>
          <a:p>
            <a:pPr marL="0" indent="0">
              <a:buNone/>
            </a:pPr>
            <a:r>
              <a:rPr lang="fr-FR" dirty="0"/>
              <a:t>		sinon </a:t>
            </a:r>
          </a:p>
          <a:p>
            <a:pPr marL="0" indent="0">
              <a:buNone/>
            </a:pPr>
            <a:r>
              <a:rPr lang="fr-FR" dirty="0"/>
              <a:t>			si </a:t>
            </a:r>
            <a:r>
              <a:rPr lang="fr-FR" dirty="0" err="1"/>
              <a:t>t</a:t>
            </a:r>
            <a:r>
              <a:rPr lang="fr-FR" dirty="0"/>
              <a:t>[milieu] &lt; x, </a:t>
            </a:r>
          </a:p>
          <a:p>
            <a:pPr marL="0" indent="0">
              <a:buNone/>
            </a:pPr>
            <a:r>
              <a:rPr lang="fr-FR" dirty="0"/>
              <a:t>				poser </a:t>
            </a:r>
            <a:r>
              <a:rPr lang="fr-FR" dirty="0" err="1"/>
              <a:t>debut</a:t>
            </a:r>
            <a:r>
              <a:rPr lang="fr-FR" dirty="0"/>
              <a:t>= milieu + 1.</a:t>
            </a:r>
          </a:p>
          <a:p>
            <a:pPr marL="0" indent="0">
              <a:buNone/>
            </a:pPr>
            <a:r>
              <a:rPr lang="fr-FR" dirty="0"/>
              <a:t>Retourner (false,−1).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6AF8947-247B-DD11-6493-99F6D6F9826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dirty="0"/>
              <a:t>x = 11</a:t>
            </a:r>
          </a:p>
          <a:p>
            <a:pPr marL="0" indent="0">
              <a:buNone/>
            </a:pPr>
            <a:r>
              <a:rPr lang="fr-FR" dirty="0"/>
              <a:t>milieu = (0 + 7)/2 = 3, </a:t>
            </a:r>
            <a:r>
              <a:rPr lang="fr-FR" dirty="0" err="1"/>
              <a:t>t</a:t>
            </a:r>
            <a:r>
              <a:rPr lang="fr-FR" dirty="0"/>
              <a:t>[3] = 12 &gt; x, </a:t>
            </a:r>
          </a:p>
          <a:p>
            <a:pPr marL="0" indent="0">
              <a:buNone/>
            </a:pPr>
            <a:r>
              <a:rPr lang="fr-FR" dirty="0"/>
              <a:t>donc </a:t>
            </a:r>
            <a:r>
              <a:rPr lang="fr-FR" dirty="0" err="1"/>
              <a:t>debut</a:t>
            </a:r>
            <a:r>
              <a:rPr lang="fr-FR" dirty="0"/>
              <a:t> ne change pas et fin = 3.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milieu = (0 + 3)/2 = 1, </a:t>
            </a:r>
            <a:r>
              <a:rPr lang="fr-FR" dirty="0" err="1"/>
              <a:t>t</a:t>
            </a:r>
            <a:r>
              <a:rPr lang="fr-FR" dirty="0"/>
              <a:t>[1] = 9 &lt; x, </a:t>
            </a:r>
          </a:p>
          <a:p>
            <a:pPr marL="0" indent="0">
              <a:buNone/>
            </a:pPr>
            <a:r>
              <a:rPr lang="fr-FR" dirty="0"/>
              <a:t>donc </a:t>
            </a:r>
            <a:r>
              <a:rPr lang="fr-FR" dirty="0" err="1"/>
              <a:t>debut</a:t>
            </a:r>
            <a:r>
              <a:rPr lang="fr-FR" dirty="0"/>
              <a:t> = 1 + 1 = 2et fin ne change pas.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milieu = (2 + 3)/2 = 2, </a:t>
            </a:r>
            <a:r>
              <a:rPr lang="fr-FR" dirty="0" err="1"/>
              <a:t>t</a:t>
            </a:r>
            <a:r>
              <a:rPr lang="fr-FR" dirty="0"/>
              <a:t>[2] = 11 = x, </a:t>
            </a:r>
          </a:p>
          <a:p>
            <a:pPr marL="0" indent="0">
              <a:buNone/>
            </a:pPr>
            <a:r>
              <a:rPr lang="fr-FR" dirty="0"/>
              <a:t>donc on retourne (</a:t>
            </a:r>
            <a:r>
              <a:rPr lang="fr-FR" dirty="0" err="1"/>
              <a:t>true</a:t>
            </a:r>
            <a:r>
              <a:rPr lang="fr-FR" dirty="0"/>
              <a:t>, 2).</a:t>
            </a:r>
          </a:p>
          <a:p>
            <a:pPr marL="0" indent="0">
              <a:buNone/>
            </a:pPr>
            <a:endParaRPr lang="fr-FR" dirty="0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136A7AB0-1607-D0D5-452B-7BCCD5DE28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57498"/>
              </p:ext>
            </p:extLst>
          </p:nvPr>
        </p:nvGraphicFramePr>
        <p:xfrm>
          <a:off x="567559" y="1324928"/>
          <a:ext cx="374868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527">
                  <a:extLst>
                    <a:ext uri="{9D8B030D-6E8A-4147-A177-3AD203B41FA5}">
                      <a16:colId xmlns:a16="http://schemas.microsoft.com/office/drawing/2014/main" val="2428685435"/>
                    </a:ext>
                  </a:extLst>
                </a:gridCol>
                <a:gridCol w="535527">
                  <a:extLst>
                    <a:ext uri="{9D8B030D-6E8A-4147-A177-3AD203B41FA5}">
                      <a16:colId xmlns:a16="http://schemas.microsoft.com/office/drawing/2014/main" val="4077065735"/>
                    </a:ext>
                  </a:extLst>
                </a:gridCol>
                <a:gridCol w="535527">
                  <a:extLst>
                    <a:ext uri="{9D8B030D-6E8A-4147-A177-3AD203B41FA5}">
                      <a16:colId xmlns:a16="http://schemas.microsoft.com/office/drawing/2014/main" val="3513407377"/>
                    </a:ext>
                  </a:extLst>
                </a:gridCol>
                <a:gridCol w="535527">
                  <a:extLst>
                    <a:ext uri="{9D8B030D-6E8A-4147-A177-3AD203B41FA5}">
                      <a16:colId xmlns:a16="http://schemas.microsoft.com/office/drawing/2014/main" val="2505454059"/>
                    </a:ext>
                  </a:extLst>
                </a:gridCol>
                <a:gridCol w="535527">
                  <a:extLst>
                    <a:ext uri="{9D8B030D-6E8A-4147-A177-3AD203B41FA5}">
                      <a16:colId xmlns:a16="http://schemas.microsoft.com/office/drawing/2014/main" val="3363715900"/>
                    </a:ext>
                  </a:extLst>
                </a:gridCol>
                <a:gridCol w="535527">
                  <a:extLst>
                    <a:ext uri="{9D8B030D-6E8A-4147-A177-3AD203B41FA5}">
                      <a16:colId xmlns:a16="http://schemas.microsoft.com/office/drawing/2014/main" val="1618461386"/>
                    </a:ext>
                  </a:extLst>
                </a:gridCol>
                <a:gridCol w="535527">
                  <a:extLst>
                    <a:ext uri="{9D8B030D-6E8A-4147-A177-3AD203B41FA5}">
                      <a16:colId xmlns:a16="http://schemas.microsoft.com/office/drawing/2014/main" val="2869140355"/>
                    </a:ext>
                  </a:extLst>
                </a:gridCol>
              </a:tblGrid>
              <a:tr h="333761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440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59665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103FC-821C-4989-1633-2306115CA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8AA903-DBD0-2B86-272C-9462F9507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Recherche d’élément dans un tableau trié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39187D2-E8B9-F03F-A774-A8C590D218F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dirty="0"/>
              <a:t>Soit </a:t>
            </a:r>
            <a:r>
              <a:rPr lang="fr-FR" dirty="0" err="1"/>
              <a:t>debut</a:t>
            </a:r>
            <a:r>
              <a:rPr lang="fr-FR" dirty="0"/>
              <a:t> = 0, soit fin= </a:t>
            </a:r>
            <a:r>
              <a:rPr lang="fr-FR" dirty="0" err="1"/>
              <a:t>len</a:t>
            </a:r>
            <a:r>
              <a:rPr lang="fr-FR" dirty="0"/>
              <a:t>(</a:t>
            </a:r>
            <a:r>
              <a:rPr lang="fr-FR" dirty="0" err="1"/>
              <a:t>t</a:t>
            </a:r>
            <a:r>
              <a:rPr lang="fr-FR" dirty="0"/>
              <a:t>).</a:t>
            </a:r>
          </a:p>
          <a:p>
            <a:pPr marL="0" indent="0">
              <a:buNone/>
            </a:pPr>
            <a:r>
              <a:rPr lang="fr-FR" dirty="0"/>
              <a:t>Tant que </a:t>
            </a:r>
            <a:r>
              <a:rPr lang="fr-FR" dirty="0" err="1"/>
              <a:t>debut</a:t>
            </a:r>
            <a:r>
              <a:rPr lang="fr-FR" dirty="0"/>
              <a:t> &lt; fin,</a:t>
            </a:r>
          </a:p>
          <a:p>
            <a:pPr marL="0" indent="0">
              <a:buNone/>
            </a:pPr>
            <a:r>
              <a:rPr lang="fr-FR" dirty="0"/>
              <a:t>	soit milieu = (</a:t>
            </a:r>
            <a:r>
              <a:rPr lang="fr-FR" dirty="0" err="1"/>
              <a:t>debut</a:t>
            </a:r>
            <a:r>
              <a:rPr lang="fr-FR" dirty="0"/>
              <a:t> + fin)/2,</a:t>
            </a:r>
          </a:p>
          <a:p>
            <a:pPr marL="0" indent="0">
              <a:buNone/>
            </a:pPr>
            <a:r>
              <a:rPr lang="fr-FR" dirty="0"/>
              <a:t>	si </a:t>
            </a:r>
            <a:r>
              <a:rPr lang="fr-FR" dirty="0" err="1"/>
              <a:t>t</a:t>
            </a:r>
            <a:r>
              <a:rPr lang="fr-FR" dirty="0"/>
              <a:t>[milieu] = x, </a:t>
            </a:r>
          </a:p>
          <a:p>
            <a:pPr marL="0" indent="0">
              <a:buNone/>
            </a:pPr>
            <a:r>
              <a:rPr lang="fr-FR" dirty="0"/>
              <a:t>		retourner (</a:t>
            </a:r>
            <a:r>
              <a:rPr lang="fr-FR" dirty="0" err="1"/>
              <a:t>true</a:t>
            </a:r>
            <a:r>
              <a:rPr lang="fr-FR" dirty="0"/>
              <a:t>, milieu),</a:t>
            </a:r>
          </a:p>
          <a:p>
            <a:pPr marL="0" indent="0">
              <a:buNone/>
            </a:pPr>
            <a:r>
              <a:rPr lang="fr-FR" dirty="0"/>
              <a:t>	sinon </a:t>
            </a:r>
          </a:p>
          <a:p>
            <a:pPr marL="0" indent="0">
              <a:buNone/>
            </a:pPr>
            <a:r>
              <a:rPr lang="fr-FR" dirty="0"/>
              <a:t>		si </a:t>
            </a:r>
            <a:r>
              <a:rPr lang="fr-FR" dirty="0" err="1"/>
              <a:t>t</a:t>
            </a:r>
            <a:r>
              <a:rPr lang="fr-FR" dirty="0"/>
              <a:t>[milieu] &gt; x, </a:t>
            </a:r>
          </a:p>
          <a:p>
            <a:pPr marL="0" indent="0">
              <a:buNone/>
            </a:pPr>
            <a:r>
              <a:rPr lang="fr-FR" dirty="0"/>
              <a:t>			poser fin= milieu,</a:t>
            </a:r>
          </a:p>
          <a:p>
            <a:pPr marL="0" indent="0">
              <a:buNone/>
            </a:pPr>
            <a:r>
              <a:rPr lang="fr-FR" dirty="0"/>
              <a:t>		sinon </a:t>
            </a:r>
          </a:p>
          <a:p>
            <a:pPr marL="0" indent="0">
              <a:buNone/>
            </a:pPr>
            <a:r>
              <a:rPr lang="fr-FR" dirty="0"/>
              <a:t>			si </a:t>
            </a:r>
            <a:r>
              <a:rPr lang="fr-FR" dirty="0" err="1"/>
              <a:t>t</a:t>
            </a:r>
            <a:r>
              <a:rPr lang="fr-FR" dirty="0"/>
              <a:t>[milieu] &lt; x, </a:t>
            </a:r>
          </a:p>
          <a:p>
            <a:pPr marL="0" indent="0">
              <a:buNone/>
            </a:pPr>
            <a:r>
              <a:rPr lang="fr-FR" dirty="0"/>
              <a:t>				poser </a:t>
            </a:r>
            <a:r>
              <a:rPr lang="fr-FR" dirty="0" err="1"/>
              <a:t>debut</a:t>
            </a:r>
            <a:r>
              <a:rPr lang="fr-FR" dirty="0"/>
              <a:t>= milieu + 1.</a:t>
            </a:r>
          </a:p>
          <a:p>
            <a:pPr marL="0" indent="0">
              <a:buNone/>
            </a:pPr>
            <a:r>
              <a:rPr lang="fr-FR" dirty="0"/>
              <a:t>Retourner (false,−1).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8EDEA14-CC50-6501-E75F-98FDC7F582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dirty="0"/>
              <a:t>Rem </a:t>
            </a:r>
          </a:p>
          <a:p>
            <a:pPr marL="0" indent="0">
              <a:buNone/>
            </a:pPr>
            <a:r>
              <a:rPr lang="fr-FR" dirty="0"/>
              <a:t>	à chaque tour fin = milieu ou </a:t>
            </a:r>
            <a:r>
              <a:rPr lang="fr-FR" dirty="0" err="1"/>
              <a:t>debut</a:t>
            </a:r>
            <a:r>
              <a:rPr lang="fr-FR" dirty="0"/>
              <a:t> = milieu +1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Nombre d’opérations dans le pire cas</a:t>
            </a:r>
          </a:p>
          <a:p>
            <a:pPr marL="0" indent="0">
              <a:buNone/>
            </a:pPr>
            <a:r>
              <a:rPr lang="fr-FR" dirty="0"/>
              <a:t>5 ×k + 2 où k est le nombre de tours de boucle dans le pire cas.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Tours de boucle dans le pire cas</a:t>
            </a:r>
          </a:p>
          <a:p>
            <a:pPr marL="0" indent="0">
              <a:buNone/>
            </a:pPr>
            <a:r>
              <a:rPr lang="fr-FR" dirty="0"/>
              <a:t>A chaque tour on divise par 2 la taille de l’intervalle [</a:t>
            </a:r>
            <a:r>
              <a:rPr lang="fr-FR" dirty="0" err="1"/>
              <a:t>debut</a:t>
            </a:r>
            <a:r>
              <a:rPr lang="fr-FR" dirty="0"/>
              <a:t>, fin[ et sa taille initiale est </a:t>
            </a:r>
            <a:r>
              <a:rPr lang="fr-FR" dirty="0" err="1"/>
              <a:t>len</a:t>
            </a:r>
            <a:r>
              <a:rPr lang="fr-FR" dirty="0"/>
              <a:t>(</a:t>
            </a:r>
            <a:r>
              <a:rPr lang="fr-FR" dirty="0" err="1"/>
              <a:t>t</a:t>
            </a:r>
            <a:r>
              <a:rPr lang="fr-FR" dirty="0"/>
              <a:t>). Donc on fait log</a:t>
            </a:r>
            <a:r>
              <a:rPr lang="fr-FR" baseline="-25000" dirty="0"/>
              <a:t>2</a:t>
            </a:r>
            <a:r>
              <a:rPr lang="fr-FR" dirty="0"/>
              <a:t>(</a:t>
            </a:r>
            <a:r>
              <a:rPr lang="fr-FR" dirty="0" err="1"/>
              <a:t>len</a:t>
            </a:r>
            <a:r>
              <a:rPr lang="fr-FR" dirty="0"/>
              <a:t>(</a:t>
            </a:r>
            <a:r>
              <a:rPr lang="fr-FR" dirty="0" err="1"/>
              <a:t>t</a:t>
            </a:r>
            <a:r>
              <a:rPr lang="fr-FR" dirty="0"/>
              <a:t>)) tours.</a:t>
            </a:r>
          </a:p>
          <a:p>
            <a:pPr marL="0" indent="0">
              <a:buNone/>
            </a:pPr>
            <a:r>
              <a:rPr lang="fr-FR" dirty="0"/>
              <a:t> 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2C214E27-7E92-A2E4-6685-168BA847447C}"/>
              </a:ext>
            </a:extLst>
          </p:cNvPr>
          <p:cNvGraphicFramePr>
            <a:graphicFrameLocks noGrp="1"/>
          </p:cNvGraphicFramePr>
          <p:nvPr/>
        </p:nvGraphicFramePr>
        <p:xfrm>
          <a:off x="567559" y="1324928"/>
          <a:ext cx="374868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527">
                  <a:extLst>
                    <a:ext uri="{9D8B030D-6E8A-4147-A177-3AD203B41FA5}">
                      <a16:colId xmlns:a16="http://schemas.microsoft.com/office/drawing/2014/main" val="2428685435"/>
                    </a:ext>
                  </a:extLst>
                </a:gridCol>
                <a:gridCol w="535527">
                  <a:extLst>
                    <a:ext uri="{9D8B030D-6E8A-4147-A177-3AD203B41FA5}">
                      <a16:colId xmlns:a16="http://schemas.microsoft.com/office/drawing/2014/main" val="4077065735"/>
                    </a:ext>
                  </a:extLst>
                </a:gridCol>
                <a:gridCol w="535527">
                  <a:extLst>
                    <a:ext uri="{9D8B030D-6E8A-4147-A177-3AD203B41FA5}">
                      <a16:colId xmlns:a16="http://schemas.microsoft.com/office/drawing/2014/main" val="3513407377"/>
                    </a:ext>
                  </a:extLst>
                </a:gridCol>
                <a:gridCol w="535527">
                  <a:extLst>
                    <a:ext uri="{9D8B030D-6E8A-4147-A177-3AD203B41FA5}">
                      <a16:colId xmlns:a16="http://schemas.microsoft.com/office/drawing/2014/main" val="2505454059"/>
                    </a:ext>
                  </a:extLst>
                </a:gridCol>
                <a:gridCol w="535527">
                  <a:extLst>
                    <a:ext uri="{9D8B030D-6E8A-4147-A177-3AD203B41FA5}">
                      <a16:colId xmlns:a16="http://schemas.microsoft.com/office/drawing/2014/main" val="3363715900"/>
                    </a:ext>
                  </a:extLst>
                </a:gridCol>
                <a:gridCol w="535527">
                  <a:extLst>
                    <a:ext uri="{9D8B030D-6E8A-4147-A177-3AD203B41FA5}">
                      <a16:colId xmlns:a16="http://schemas.microsoft.com/office/drawing/2014/main" val="1618461386"/>
                    </a:ext>
                  </a:extLst>
                </a:gridCol>
                <a:gridCol w="535527">
                  <a:extLst>
                    <a:ext uri="{9D8B030D-6E8A-4147-A177-3AD203B41FA5}">
                      <a16:colId xmlns:a16="http://schemas.microsoft.com/office/drawing/2014/main" val="2869140355"/>
                    </a:ext>
                  </a:extLst>
                </a:gridCol>
              </a:tblGrid>
              <a:tr h="333761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440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23112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74E24E-D0E7-0D56-73FE-5BAA940EF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Recherche dichotomique séquentielle dans un tableau trié</a:t>
            </a:r>
            <a:br>
              <a:rPr lang="fr-FR" dirty="0"/>
            </a:b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11D5907-451F-3634-5BB2-5866C6E99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2088" y="1271751"/>
            <a:ext cx="6258950" cy="4907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8517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3AE524-86F5-6520-FACF-A6A02B35D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Remarques finales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AC9304C-46AA-E740-CC57-F30436140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dirty="0"/>
              <a:t>Recherche de minimum dans un tableau trié</a:t>
            </a:r>
          </a:p>
          <a:p>
            <a:pPr marL="0" indent="0">
              <a:buNone/>
            </a:pPr>
            <a:r>
              <a:rPr lang="fr-FR" dirty="0"/>
              <a:t>	Simplement prendre la valeur de la première case du tableau.</a:t>
            </a:r>
          </a:p>
          <a:p>
            <a:pPr marL="0" indent="0">
              <a:buNone/>
            </a:pPr>
            <a:r>
              <a:rPr lang="fr-FR" dirty="0"/>
              <a:t>Sélection d’éléments dans un tableau trié</a:t>
            </a:r>
          </a:p>
          <a:p>
            <a:pPr marL="0" indent="0">
              <a:buNone/>
            </a:pPr>
            <a:r>
              <a:rPr lang="fr-FR" dirty="0"/>
              <a:t>	Chercher le plus grand  élément à sélectionner par dichotomie, puis prendre tous ceux qui sont avant lui dans le tableau.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Trier un tableau</a:t>
            </a:r>
          </a:p>
          <a:p>
            <a:pPr marL="0" indent="0">
              <a:buNone/>
            </a:pPr>
            <a:r>
              <a:rPr lang="fr-FR" dirty="0"/>
              <a:t>Pour vraiment comparer le nombre d’opérations nécessaires à la recherche séquentielle et à la recherche dichotomique, il faut</a:t>
            </a:r>
          </a:p>
          <a:p>
            <a:pPr marL="0" indent="0">
              <a:buNone/>
            </a:pPr>
            <a:r>
              <a:rPr lang="fr-FR" dirty="0"/>
              <a:t>prendre en compte le tri du tableau :</a:t>
            </a:r>
          </a:p>
          <a:p>
            <a:pPr marL="0" indent="0">
              <a:buNone/>
            </a:pPr>
            <a:r>
              <a:rPr lang="fr-FR" dirty="0"/>
              <a:t>	pour chercher une fois un élément ce n’est pas rentable de trier,</a:t>
            </a:r>
          </a:p>
          <a:p>
            <a:pPr marL="0" indent="0">
              <a:buNone/>
            </a:pPr>
            <a:r>
              <a:rPr lang="fr-FR" dirty="0"/>
              <a:t>	si on doit très souvent chercher des éléments ¸ca devient rentable.</a:t>
            </a:r>
          </a:p>
          <a:p>
            <a:pPr marL="0" indent="0">
              <a:buNone/>
            </a:pPr>
            <a:r>
              <a:rPr lang="fr-FR" dirty="0"/>
              <a:t>Les algorithmes de tri seront le sujet d’un prochain cours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6893831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2695</TotalTime>
  <Words>3478</Words>
  <Application>Microsoft Macintosh PowerPoint</Application>
  <PresentationFormat>Grand écran</PresentationFormat>
  <Paragraphs>370</Paragraphs>
  <Slides>30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JetBrains Mono</vt:lpstr>
      <vt:lpstr>Thème Office</vt:lpstr>
      <vt:lpstr>R1.01</vt:lpstr>
      <vt:lpstr>Collection</vt:lpstr>
      <vt:lpstr>Tableaux</vt:lpstr>
      <vt:lpstr>Tableaux</vt:lpstr>
      <vt:lpstr>Les problèmes posés</vt:lpstr>
      <vt:lpstr>Exemples pratiques</vt:lpstr>
      <vt:lpstr>Recherche d’élément </vt:lpstr>
      <vt:lpstr>Recherche d’élément en go dans un tableau v1</vt:lpstr>
      <vt:lpstr>Recherche d’élément en go dans un tableau v2</vt:lpstr>
      <vt:lpstr>Recherche d’élément en go dans un tableau dynamique v3</vt:lpstr>
      <vt:lpstr>Recherche d’élément en go dans un tableau dynamique avec tests</vt:lpstr>
      <vt:lpstr>Recherche d’élément en go dans un tableau dynamique avec librairie</vt:lpstr>
      <vt:lpstr>Recherche d’élément : nombre d’opérations</vt:lpstr>
      <vt:lpstr>Recherche d’élément : nombre d’opérations</vt:lpstr>
      <vt:lpstr>Recherche de minimum</vt:lpstr>
      <vt:lpstr>Recherche de minimum</vt:lpstr>
      <vt:lpstr>Recherche de minimum</vt:lpstr>
      <vt:lpstr>Sélection d’éléments</vt:lpstr>
      <vt:lpstr>Sélection d’éléments</vt:lpstr>
      <vt:lpstr>Sélection d’éléments : nombre d’opérations</vt:lpstr>
      <vt:lpstr>Peut-on faire mieux ?</vt:lpstr>
      <vt:lpstr>Recherche d’élément dans un tableau trié</vt:lpstr>
      <vt:lpstr>Recherche d’élément dans un tableau trié</vt:lpstr>
      <vt:lpstr>Recherche d’élément dans un tableau trié</vt:lpstr>
      <vt:lpstr>Recherche d’élément dans un tableau trié</vt:lpstr>
      <vt:lpstr>Recherche d’élément dans un tableau trié</vt:lpstr>
      <vt:lpstr>Recherche d’élément dans un tableau trié</vt:lpstr>
      <vt:lpstr>Recherche d’élément dans un tableau trié</vt:lpstr>
      <vt:lpstr>Recherche dichotomique séquentielle dans un tableau trié </vt:lpstr>
      <vt:lpstr>Remarques finales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jub</dc:creator>
  <cp:lastModifiedBy>jub</cp:lastModifiedBy>
  <cp:revision>328</cp:revision>
  <dcterms:created xsi:type="dcterms:W3CDTF">2025-09-03T10:56:00Z</dcterms:created>
  <dcterms:modified xsi:type="dcterms:W3CDTF">2025-09-17T13:26:59Z</dcterms:modified>
</cp:coreProperties>
</file>