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7" r:id="rId18"/>
    <p:sldId id="273" r:id="rId19"/>
    <p:sldId id="280" r:id="rId20"/>
    <p:sldId id="278" r:id="rId21"/>
    <p:sldId id="274" r:id="rId22"/>
    <p:sldId id="279" r:id="rId23"/>
    <p:sldId id="275" r:id="rId24"/>
    <p:sldId id="276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46"/>
    <p:restoredTop sz="94691"/>
  </p:normalViewPr>
  <p:slideViewPr>
    <p:cSldViewPr snapToGrid="0">
      <p:cViewPr varScale="1">
        <p:scale>
          <a:sx n="134" d="100"/>
          <a:sy n="134" d="100"/>
        </p:scale>
        <p:origin x="2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7469C8-2B6C-E51D-D034-F665F1275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66A45B-25E6-C892-112B-918C0E7E4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C350B1-AFD2-F4A6-0BEA-0952BCA9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5BF09F-7FB8-A9CE-C53D-F3FBEE0F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621B73-D1CC-53E2-E36B-782E5B4E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15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48A08-60BE-88A4-4186-EBDB40F2B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4946A3-A8F0-85BB-CDF2-7A2E87929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A7E995-5CF4-305B-B8FE-B9FAD1DD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12C397-E4D0-2D78-43CD-10C3C095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513FD5-C6CD-AA47-CA53-CA043A11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935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D47DDF-ABE1-1826-A6B2-8FB1D4CD1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DE25D1-A709-BFFD-B0F7-E1AD03DD2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9EB81E-B173-6802-7C6B-7763AACA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2132FE-E66C-0BFF-8683-75A499A7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5C3972-B656-7131-4DFA-00E8FF2B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15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BF8E5D-EBD1-3301-F967-2EEBA35E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E524D2-56AD-B79C-5552-FF7D54337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738A28-F30F-6D3C-F4FD-A37897967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5A17CD-7E89-639E-9727-9B26E85D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49853D-D53D-B3CD-FA21-5BC608986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DC911E-3EBC-B69F-8414-03BFC274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79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EE6BB-21FB-DC78-62AB-4993D1F3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20B41A-730F-128A-3637-F019DC8E8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9A5A5A-20DB-9A40-2613-30E866808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F34C28-21B5-E3F8-D28F-A57EDFE3A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6FAC42-4B5F-AC63-FB54-E6C0062C5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1EA0B76-9EB9-7DB2-917B-5407C763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210BAA6-BF75-CB37-C75B-C2600427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86A080-D31C-FB2B-3F11-9A99AEB0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6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A5684-310D-CB6F-EA89-AC0D7C6F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13F922-1039-AA3F-35FF-669E69AF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079937-0372-5AEA-1FA8-72ABA3AF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25A178-E397-1668-920A-736B907D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3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A9B69B-0653-307A-2DB2-391569503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161B899-482E-0A9E-D80D-B81B6B9F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579E0C-E0AA-809B-9002-ED86F57C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4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14472D-FC42-B8D4-19DB-76B394E13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14D530-9BC2-ECF1-2F5F-BB84BB664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086CE8-6FD6-0B4F-81CA-0829F4856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A22479-9BE0-E49B-8C4B-E0A76BFE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9985F8-D0AF-9FED-F87A-C18427C4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0ACC76-B95D-F335-8C60-F2502BD2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969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15DA2F-F0AF-7D71-6E7C-9F86305D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7300BB-4F9F-3454-7F16-3A7FBBB09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76942C-28E5-02FC-C4A3-29C669ED3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AFC287-EEDD-85F1-7CC8-96124AAB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05FDDF-F1C8-FADB-099D-EDC89B51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97A640-E3B4-9651-E0E2-E8954C91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365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1429E3-1B00-BE08-0520-4649C95A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C2E0C4-E23C-528E-5AB7-269A86A30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FEC732-D342-AD08-39A1-B0EABC84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21A2DF-D2A9-D18F-DFC6-497A4382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0F163E-39CE-FAEF-011C-9BA5F11A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305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A548164-386E-CF8E-3496-81DCB5535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449AD3B-86B6-6B50-3D5A-CADE242CC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7FECAB-7588-22DE-DCF9-336A86BB4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54A90A-1B8B-13BE-3F9F-C555BFAD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E5BCE3-1E76-BDA9-EF92-679780C3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10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8F7896B-8F04-7D4F-71AA-B2F629E4E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CA47D7-6605-0CDD-6740-2D4E8C97E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209E83-4D1C-7209-94D6-623B50922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89E67-719D-6248-8B58-9DF128B850BA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34B008-68CA-A040-CA22-D356D7647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191E8F-251C-2ABA-F6B1-33DC7F567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90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8CAB4D-852E-6320-5C40-84408941F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R1.01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AB1AE7-3F2D-E5DD-B9A2-17F1DC54E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CM-04</a:t>
            </a:r>
          </a:p>
          <a:p>
            <a:r>
              <a:rPr lang="fr-FR" dirty="0"/>
              <a:t>Algorithmique - récursivité</a:t>
            </a:r>
          </a:p>
          <a:p>
            <a:r>
              <a:rPr lang="fr-FR" dirty="0"/>
              <a:t>Basé sur le cours de Loïg Jezequel</a:t>
            </a:r>
          </a:p>
        </p:txBody>
      </p:sp>
    </p:spTree>
    <p:extLst>
      <p:ext uri="{BB962C8B-B14F-4D97-AF65-F5344CB8AC3E}">
        <p14:creationId xmlns:p14="http://schemas.microsoft.com/office/powerpoint/2010/main" val="390072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7B994D-7A1D-8C9B-D64B-01D28CA0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C32D7B8-8D47-7DDB-8A2A-9E53191600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Wikipedia</a:t>
            </a:r>
            <a:r>
              <a:rPr lang="fr-FR" dirty="0"/>
              <a:t> : </a:t>
            </a:r>
          </a:p>
          <a:p>
            <a:pPr marL="0" indent="0">
              <a:buNone/>
            </a:pPr>
            <a:r>
              <a:rPr lang="fr-FR" dirty="0"/>
              <a:t>Un algorithme récursif est un algorithme qui résout un problème en calculant des solutions d'instances plus petites du même problème.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81D7373-E105-E00B-0EBB-7AB1EF7E2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88604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Un arbre est composé de sous-arbres qui sont des arbres.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9277F6-6B99-F0A5-57D2-96D8C1633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541" y="2636399"/>
            <a:ext cx="2537316" cy="334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58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0CDAAE-E951-0C2D-4A83-977872CF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: recherche dichotomique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026A9D-0A84-D7A9-A3B7-551E9DD9DA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iterative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286D73"/>
                </a:solidFill>
                <a:effectLst/>
                <a:latin typeface="JetBrains Mono"/>
              </a:rPr>
              <a:t>rechercheDicho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[]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debut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:=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fin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:=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var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br>
              <a:rPr lang="fr-FR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   for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debut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fin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= 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debut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fin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 ==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br>
              <a:rPr lang="fr-FR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 &gt;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fin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br>
              <a:rPr lang="fr-FR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     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debut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  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96EB99-0040-A24E-187A-EC1A9765DE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recursive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286D73"/>
                </a:solidFill>
                <a:effectLst/>
                <a:latin typeface="JetBrains Mono"/>
              </a:rPr>
              <a:t>rechercheDicho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[]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==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0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:=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 ==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br>
              <a:rPr lang="fr-FR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 &gt;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b="1" dirty="0" err="1">
                <a:solidFill>
                  <a:srgbClr val="36666B"/>
                </a:solidFill>
                <a:effectLst/>
                <a:latin typeface="JetBrains Mono"/>
              </a:rPr>
              <a:t>rechercheDicho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[: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tmp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:= </a:t>
            </a:r>
            <a:r>
              <a:rPr lang="fr-FR" b="1" dirty="0" err="1">
                <a:solidFill>
                  <a:srgbClr val="36666B"/>
                </a:solidFill>
                <a:effectLst/>
                <a:latin typeface="JetBrains Mono"/>
              </a:rPr>
              <a:t>rechercheDicho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:])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tmp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== 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tmp</a:t>
            </a:r>
            <a:br>
              <a:rPr lang="fr-FR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fr-FR" dirty="0"/>
              <a:t>	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7226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DA525F-FEE3-92F4-45A9-7409A43B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EA8E7EB-896B-9191-14A2-F92AA1982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Il faut au moins un cas d’arrêt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Il faut à chaque appel récursif converger vers un point d’arrêt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Rem : On suppose lors de l’appel récursif  que l’étape précédente fonctionne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565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688EA-A3FA-168B-AC3F-59FB46503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A37A1-99CE-DCBC-7126-C63EB20E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966CC73-DDFE-92C4-8B93-3550A678C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Il faut au moins un cas d’arrêt</a:t>
            </a:r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==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0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On peut statuer, il n’y a pas d’appel récursif.</a:t>
            </a:r>
          </a:p>
        </p:txBody>
      </p:sp>
    </p:spTree>
    <p:extLst>
      <p:ext uri="{BB962C8B-B14F-4D97-AF65-F5344CB8AC3E}">
        <p14:creationId xmlns:p14="http://schemas.microsoft.com/office/powerpoint/2010/main" val="310583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75A56-E12E-DB63-11B8-FDA72F22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421169-2FCF-AC04-7C87-BF561199A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E3D3537-DC32-3248-C7D8-84E22CFA3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FR" dirty="0"/>
              <a:t>Il faut à chaque appel récursif converger vers un point d’arrêt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Ici le point d’arrêt est défini par une taille de 0 </a:t>
            </a:r>
          </a:p>
          <a:p>
            <a:pPr>
              <a:buNone/>
            </a:pPr>
            <a:r>
              <a:rPr lang="fr-FR" dirty="0"/>
              <a:t>	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rechercheDicho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[: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]) et 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rechercheDicho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milieu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:])</a:t>
            </a:r>
          </a:p>
          <a:p>
            <a:pPr>
              <a:buNone/>
            </a:pP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réduisent la taille de </a:t>
            </a:r>
            <a:r>
              <a:rPr lang="fr-FR" dirty="0" err="1">
                <a:solidFill>
                  <a:srgbClr val="080808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et donc convergent vers 0</a:t>
            </a:r>
          </a:p>
          <a:p>
            <a:pPr>
              <a:buNone/>
            </a:pPr>
            <a:endParaRPr lang="fr-FR" dirty="0">
              <a:solidFill>
                <a:srgbClr val="080808"/>
              </a:solidFill>
              <a:latin typeface="JetBrains Mono"/>
            </a:endParaRPr>
          </a:p>
          <a:p>
            <a:pPr>
              <a:buNone/>
            </a:pP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Rem: </a:t>
            </a:r>
            <a:r>
              <a:rPr lang="fr-FR" dirty="0"/>
              <a:t>a[</a:t>
            </a:r>
            <a:r>
              <a:rPr lang="fr-FR" dirty="0" err="1"/>
              <a:t>low</a:t>
            </a:r>
            <a:r>
              <a:rPr lang="fr-FR" dirty="0"/>
              <a:t> : high], élément de position </a:t>
            </a:r>
            <a:r>
              <a:rPr lang="fr-FR" dirty="0" err="1"/>
              <a:t>low</a:t>
            </a:r>
            <a:r>
              <a:rPr lang="fr-FR" dirty="0"/>
              <a:t> inclus et de position high exclus </a:t>
            </a:r>
          </a:p>
          <a:p>
            <a:pPr>
              <a:buNone/>
            </a:pP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4258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D0516-A81C-C9D7-1F97-22C519A4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Factorielle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7C8687-7955-ADAA-DA9A-01A491452C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  <a:p>
            <a:pPr marL="457200" lvl="1" indent="0">
              <a:buNone/>
            </a:pPr>
            <a:r>
              <a:rPr lang="fr-FR" dirty="0"/>
              <a:t>Fac(n)  = </a:t>
            </a:r>
          </a:p>
          <a:p>
            <a:pPr marL="457200" lvl="1" indent="0">
              <a:buNone/>
            </a:pPr>
            <a:r>
              <a:rPr lang="fr-FR" dirty="0"/>
              <a:t>	si n &gt;1      (n-1) (n-2) … 1</a:t>
            </a:r>
          </a:p>
          <a:p>
            <a:pPr marL="457200" lvl="1" indent="0">
              <a:buNone/>
            </a:pPr>
            <a:r>
              <a:rPr lang="fr-FR" dirty="0"/>
              <a:t>	sinon 1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Condition d’arrêt ?</a:t>
            </a:r>
          </a:p>
          <a:p>
            <a:r>
              <a:rPr lang="fr-FR" dirty="0"/>
              <a:t>Appel récursif ? 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3AF2C9-BF4A-29E6-C596-D6BF8CD560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Fac(0) = 1</a:t>
            </a:r>
          </a:p>
          <a:p>
            <a:pPr marL="0" indent="0">
              <a:buNone/>
            </a:pPr>
            <a:r>
              <a:rPr lang="fr-FR" dirty="0"/>
              <a:t>Fac(1) = 1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Fac(2) =             2 x 1 = 2</a:t>
            </a:r>
          </a:p>
          <a:p>
            <a:pPr marL="0" indent="0">
              <a:buNone/>
            </a:pPr>
            <a:r>
              <a:rPr lang="fr-FR" dirty="0"/>
              <a:t>Fac(3) =       3 x 2 x 1 = 6</a:t>
            </a:r>
          </a:p>
          <a:p>
            <a:pPr marL="0" indent="0">
              <a:buNone/>
            </a:pPr>
            <a:r>
              <a:rPr lang="fr-FR" dirty="0"/>
              <a:t>Fac(4) = 4 x 3 x 2 x 1 = 24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861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9C510-242A-684F-D340-6CA7831B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503D20-8E67-748F-9DCB-6CA111A8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Factorielle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87E457-C913-6C79-FAB7-2C23CFD58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Définition</a:t>
            </a:r>
          </a:p>
          <a:p>
            <a:pPr marL="457200" lvl="1" indent="0">
              <a:buNone/>
            </a:pPr>
            <a:r>
              <a:rPr lang="fr-FR" dirty="0"/>
              <a:t>Fac(n)  = </a:t>
            </a:r>
          </a:p>
          <a:p>
            <a:pPr marL="457200" lvl="1" indent="0">
              <a:buNone/>
            </a:pPr>
            <a:r>
              <a:rPr lang="fr-FR" dirty="0"/>
              <a:t>	si n &gt;1      (n-1) (n-2) … 1</a:t>
            </a:r>
          </a:p>
          <a:p>
            <a:pPr marL="457200" lvl="1" indent="0">
              <a:buNone/>
            </a:pPr>
            <a:r>
              <a:rPr lang="fr-FR" dirty="0"/>
              <a:t>	sinon 1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Condition d’arrêt </a:t>
            </a:r>
          </a:p>
          <a:p>
            <a:pPr marL="457200" lvl="1" indent="0">
              <a:buNone/>
            </a:pPr>
            <a:r>
              <a:rPr lang="fr-FR" dirty="0"/>
              <a:t>f(0)=f(1)=1 </a:t>
            </a:r>
          </a:p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 if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r>
              <a:rPr lang="fr-FR" dirty="0"/>
              <a:t>Appel récursif ? </a:t>
            </a:r>
          </a:p>
        </p:txBody>
      </p:sp>
    </p:spTree>
    <p:extLst>
      <p:ext uri="{BB962C8B-B14F-4D97-AF65-F5344CB8AC3E}">
        <p14:creationId xmlns:p14="http://schemas.microsoft.com/office/powerpoint/2010/main" val="1860857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F532-56D9-B5FF-A03C-0E85802F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0E273-B1CA-05FA-C5E0-42816A9D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Factorielle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24290-0DDC-654E-8D21-D8569436B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Définition</a:t>
            </a:r>
          </a:p>
          <a:p>
            <a:pPr marL="457200" lvl="1" indent="0">
              <a:buNone/>
            </a:pPr>
            <a:r>
              <a:rPr lang="fr-FR" dirty="0"/>
              <a:t>Fac(n)  = </a:t>
            </a:r>
          </a:p>
          <a:p>
            <a:pPr marL="457200" lvl="1" indent="0">
              <a:buNone/>
            </a:pPr>
            <a:r>
              <a:rPr lang="fr-FR" dirty="0"/>
              <a:t>	si n &gt;1      (n-1) (n-2) … 1</a:t>
            </a:r>
          </a:p>
          <a:p>
            <a:pPr marL="457200" lvl="1" indent="0">
              <a:buNone/>
            </a:pPr>
            <a:r>
              <a:rPr lang="fr-FR" dirty="0"/>
              <a:t>	sinon 1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Condition d’arrêt </a:t>
            </a:r>
          </a:p>
          <a:p>
            <a:pPr marL="457200" lvl="1" indent="0">
              <a:buNone/>
            </a:pPr>
            <a:r>
              <a:rPr lang="fr-FR" dirty="0"/>
              <a:t>f(0)=f(1)=1 </a:t>
            </a:r>
          </a:p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 if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r>
              <a:rPr lang="fr-FR" dirty="0"/>
              <a:t>Appel récursif </a:t>
            </a:r>
          </a:p>
          <a:p>
            <a:pPr marL="0" indent="0">
              <a:buNone/>
            </a:pPr>
            <a:r>
              <a:rPr lang="fr-FR" dirty="0"/>
              <a:t>Fac(n)		= n (n-1) (n-2) 2</a:t>
            </a:r>
          </a:p>
          <a:p>
            <a:pPr marL="0" indent="0">
              <a:buNone/>
            </a:pPr>
            <a:r>
              <a:rPr lang="fr-FR" dirty="0"/>
              <a:t>Fact(n-1)	=     (n-1) (n-2) 2</a:t>
            </a:r>
          </a:p>
          <a:p>
            <a:pPr marL="0" indent="0">
              <a:buNone/>
            </a:pPr>
            <a:r>
              <a:rPr lang="fr-FR" dirty="0"/>
              <a:t>Fac(n) = n fac(n-1)</a:t>
            </a:r>
          </a:p>
        </p:txBody>
      </p:sp>
    </p:spTree>
    <p:extLst>
      <p:ext uri="{BB962C8B-B14F-4D97-AF65-F5344CB8AC3E}">
        <p14:creationId xmlns:p14="http://schemas.microsoft.com/office/powerpoint/2010/main" val="3562441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342B5-DE05-2DFF-CB82-7DE80F56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785AA4-94FB-2C3A-11AA-608C1139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Factorielle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A2B3CF-0B00-EB8B-2BCC-35C6FA9C7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70434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286D73"/>
                </a:solidFill>
                <a:effectLst/>
                <a:latin typeface="JetBrains Mono"/>
              </a:rPr>
              <a:t>factorielle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* </a:t>
            </a:r>
            <a:r>
              <a:rPr lang="fr-FR" dirty="0">
                <a:solidFill>
                  <a:srgbClr val="36666B"/>
                </a:solidFill>
                <a:effectLst/>
                <a:latin typeface="JetBrains Mono"/>
              </a:rPr>
              <a:t>factorielle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4AC1E8-90D5-B52F-5BCE-A6C097266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8538" y="1825625"/>
            <a:ext cx="6758152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rgbClr val="286D73"/>
                </a:solidFill>
                <a:latin typeface="JetBrains Mono"/>
              </a:rPr>
              <a:t>factorielle(3) =</a:t>
            </a:r>
          </a:p>
          <a:p>
            <a:pPr marL="0" indent="0">
              <a:buNone/>
            </a:pPr>
            <a:r>
              <a:rPr lang="fr-FR" dirty="0">
                <a:solidFill>
                  <a:srgbClr val="286D73"/>
                </a:solidFill>
                <a:latin typeface="JetBrains Mono"/>
              </a:rPr>
              <a:t>	3 * factorielle(2) </a:t>
            </a:r>
          </a:p>
          <a:p>
            <a:pPr marL="0" indent="0">
              <a:buNone/>
            </a:pPr>
            <a:r>
              <a:rPr lang="fr-FR" dirty="0">
                <a:solidFill>
                  <a:srgbClr val="286D73"/>
                </a:solidFill>
                <a:latin typeface="JetBrains Mono"/>
              </a:rPr>
              <a:t>	       factorielle(2) = 2 * factorielle(1)</a:t>
            </a:r>
          </a:p>
          <a:p>
            <a:pPr marL="0" indent="0">
              <a:buNone/>
            </a:pPr>
            <a:r>
              <a:rPr lang="fr-FR" dirty="0">
                <a:solidFill>
                  <a:srgbClr val="286D73"/>
                </a:solidFill>
                <a:latin typeface="JetBrains Mono"/>
              </a:rPr>
              <a:t>				       factorielle(1) =1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2818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661051-E6FB-F928-6DCB-D7D97683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Suites récursives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5064BC-60E1-C0DC-BB2B-E70F7A00A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dirty="0"/>
              <a:t>Une suite est une famille d’éléments (typiquement des réels) appelés termes, indexé par les entiers naturels. On la note en général (U</a:t>
            </a:r>
            <a:r>
              <a:rPr lang="fr-FR" baseline="-25000" dirty="0"/>
              <a:t>n</a:t>
            </a:r>
            <a:r>
              <a:rPr lang="fr-FR" dirty="0"/>
              <a:t>) et on note son </a:t>
            </a:r>
            <a:r>
              <a:rPr lang="fr-FR" dirty="0" err="1"/>
              <a:t>n-ième</a:t>
            </a:r>
            <a:r>
              <a:rPr lang="fr-FR" dirty="0"/>
              <a:t> terme u</a:t>
            </a:r>
            <a:r>
              <a:rPr lang="fr-FR" baseline="-25000" dirty="0"/>
              <a:t>n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Définition par le terme général</a:t>
            </a:r>
          </a:p>
          <a:p>
            <a:pPr marL="0" indent="0">
              <a:buNone/>
            </a:pPr>
            <a:r>
              <a:rPr lang="fr-FR" dirty="0"/>
              <a:t>On définit u</a:t>
            </a:r>
            <a:r>
              <a:rPr lang="fr-FR" baseline="-25000" dirty="0"/>
              <a:t>n</a:t>
            </a:r>
            <a:r>
              <a:rPr lang="fr-FR" dirty="0"/>
              <a:t> en fonction de n.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Exemples : u</a:t>
            </a:r>
            <a:r>
              <a:rPr lang="fr-FR" baseline="-25000" dirty="0"/>
              <a:t>n</a:t>
            </a:r>
            <a:r>
              <a:rPr lang="fr-FR" dirty="0"/>
              <a:t> = n, u</a:t>
            </a:r>
            <a:r>
              <a:rPr lang="fr-FR" baseline="-25000" dirty="0"/>
              <a:t>n</a:t>
            </a:r>
            <a:r>
              <a:rPr lang="fr-FR" dirty="0"/>
              <a:t> = n!, u</a:t>
            </a:r>
            <a:r>
              <a:rPr lang="fr-FR" baseline="-25000" dirty="0"/>
              <a:t>n</a:t>
            </a:r>
            <a:r>
              <a:rPr lang="fr-FR" dirty="0"/>
              <a:t> = 1/n, u</a:t>
            </a:r>
            <a:r>
              <a:rPr lang="fr-FR" baseline="-25000" dirty="0"/>
              <a:t>n</a:t>
            </a:r>
            <a:r>
              <a:rPr lang="fr-FR" dirty="0"/>
              <a:t> = 2 ∗ n, etc.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Définition récursive : On définit u</a:t>
            </a:r>
            <a:r>
              <a:rPr lang="fr-FR" baseline="-25000" dirty="0"/>
              <a:t>n</a:t>
            </a:r>
            <a:r>
              <a:rPr lang="fr-FR" dirty="0"/>
              <a:t> en fonction des termes précédents (u</a:t>
            </a:r>
            <a:r>
              <a:rPr lang="fr-FR" baseline="-25000" dirty="0"/>
              <a:t>0</a:t>
            </a:r>
            <a:r>
              <a:rPr lang="fr-FR" dirty="0"/>
              <a:t>, u</a:t>
            </a:r>
            <a:r>
              <a:rPr lang="fr-FR" baseline="-25000" dirty="0"/>
              <a:t>1</a:t>
            </a:r>
            <a:r>
              <a:rPr lang="fr-FR" dirty="0"/>
              <a:t>, . . . , u</a:t>
            </a:r>
            <a:r>
              <a:rPr lang="fr-FR" baseline="-25000" dirty="0"/>
              <a:t>n−1</a:t>
            </a:r>
            <a:r>
              <a:rPr lang="fr-FR" dirty="0"/>
              <a:t>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Dans ce cas on doit initialiser la suite : donner la valeur de ses premiers termes</a:t>
            </a:r>
          </a:p>
          <a:p>
            <a:pPr marL="0" indent="0">
              <a:buNone/>
            </a:pPr>
            <a:r>
              <a:rPr lang="fr-FR" dirty="0"/>
              <a:t>Exemples : </a:t>
            </a:r>
          </a:p>
          <a:p>
            <a:pPr marL="0" indent="0">
              <a:buNone/>
            </a:pPr>
            <a:r>
              <a:rPr lang="fr-FR" dirty="0"/>
              <a:t>	u</a:t>
            </a:r>
            <a:r>
              <a:rPr lang="fr-FR" baseline="-25000" dirty="0"/>
              <a:t>n</a:t>
            </a:r>
            <a:r>
              <a:rPr lang="fr-FR" dirty="0"/>
              <a:t> = n × u</a:t>
            </a:r>
            <a:r>
              <a:rPr lang="fr-FR" baseline="-25000" dirty="0"/>
              <a:t>n−1 </a:t>
            </a:r>
            <a:r>
              <a:rPr lang="fr-FR" dirty="0"/>
              <a:t>avec u</a:t>
            </a:r>
            <a:r>
              <a:rPr lang="fr-FR" baseline="-25000" dirty="0"/>
              <a:t>0</a:t>
            </a:r>
            <a:r>
              <a:rPr lang="fr-FR" dirty="0"/>
              <a:t> = 1,</a:t>
            </a:r>
          </a:p>
          <a:p>
            <a:pPr marL="0" indent="0">
              <a:buNone/>
            </a:pPr>
            <a:r>
              <a:rPr lang="fr-FR" dirty="0"/>
              <a:t>	u</a:t>
            </a:r>
            <a:r>
              <a:rPr lang="fr-FR" baseline="-25000" dirty="0"/>
              <a:t>n</a:t>
            </a:r>
            <a:r>
              <a:rPr lang="fr-FR" dirty="0"/>
              <a:t> = u</a:t>
            </a:r>
            <a:r>
              <a:rPr lang="fr-FR" baseline="-25000" dirty="0"/>
              <a:t>n−1</a:t>
            </a:r>
            <a:r>
              <a:rPr lang="fr-FR" dirty="0"/>
              <a:t> + u</a:t>
            </a:r>
            <a:r>
              <a:rPr lang="fr-FR" baseline="-25000" dirty="0"/>
              <a:t>n−2</a:t>
            </a:r>
            <a:r>
              <a:rPr lang="fr-FR" dirty="0"/>
              <a:t> avec u</a:t>
            </a:r>
            <a:r>
              <a:rPr lang="fr-FR" baseline="-25000" dirty="0"/>
              <a:t>0</a:t>
            </a:r>
            <a:r>
              <a:rPr lang="fr-FR" dirty="0"/>
              <a:t> = 0 et u</a:t>
            </a:r>
            <a:r>
              <a:rPr lang="fr-FR" baseline="-25000" dirty="0"/>
              <a:t>1</a:t>
            </a:r>
            <a:r>
              <a:rPr lang="fr-FR" dirty="0"/>
              <a:t> = 1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5690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9C031-9ED0-99F3-C67E-43D08ACF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Suites récursives : simples - calcul itératif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A3F94-556E-3A7A-F44C-B7635BA8A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Suite simple : </a:t>
            </a:r>
          </a:p>
          <a:p>
            <a:pPr marL="0" indent="0">
              <a:buNone/>
            </a:pPr>
            <a:r>
              <a:rPr lang="fr-FR" dirty="0"/>
              <a:t>	On considère une suite (u</a:t>
            </a:r>
            <a:r>
              <a:rPr lang="fr-FR" baseline="-25000" dirty="0"/>
              <a:t>n</a:t>
            </a:r>
            <a:r>
              <a:rPr lang="fr-FR" dirty="0"/>
              <a:t>) telle que le terme un ne dépend que du terme u</a:t>
            </a:r>
            <a:r>
              <a:rPr lang="fr-FR" baseline="-25000" dirty="0"/>
              <a:t>n−1</a:t>
            </a:r>
            <a:r>
              <a:rPr lang="fr-FR" dirty="0"/>
              <a:t> : u</a:t>
            </a:r>
            <a:r>
              <a:rPr lang="fr-FR" baseline="-25000" dirty="0"/>
              <a:t>n</a:t>
            </a:r>
            <a:r>
              <a:rPr lang="fr-FR" dirty="0"/>
              <a:t> = f (</a:t>
            </a:r>
            <a:r>
              <a:rPr lang="fr-FR" baseline="-25000" dirty="0"/>
              <a:t>un−1</a:t>
            </a:r>
            <a:r>
              <a:rPr lang="fr-FR" dirty="0"/>
              <a:t>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Algorithme (calcul de u</a:t>
            </a:r>
            <a:r>
              <a:rPr lang="fr-FR" baseline="-25000" dirty="0"/>
              <a:t>n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/>
              <a:t>	Soit i = 0 et soit </a:t>
            </a: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= u0. </a:t>
            </a:r>
          </a:p>
          <a:p>
            <a:pPr marL="0" indent="0">
              <a:buNone/>
            </a:pPr>
            <a:r>
              <a:rPr lang="fr-FR" dirty="0"/>
              <a:t>	Tant que i &lt; n, poser 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= f (</a:t>
            </a: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) </a:t>
            </a:r>
          </a:p>
          <a:p>
            <a:pPr marL="0" indent="0">
              <a:buNone/>
            </a:pPr>
            <a:r>
              <a:rPr lang="fr-FR" dirty="0"/>
              <a:t>		puis ajouter 1 à i. </a:t>
            </a:r>
          </a:p>
          <a:p>
            <a:pPr marL="0" indent="0">
              <a:buNone/>
            </a:pPr>
            <a:r>
              <a:rPr lang="fr-FR" dirty="0"/>
              <a:t>	Retourner </a:t>
            </a: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Exemple : on veut calculer u</a:t>
            </a:r>
            <a:r>
              <a:rPr lang="fr-FR" baseline="-25000" dirty="0"/>
              <a:t>5</a:t>
            </a:r>
            <a:r>
              <a:rPr lang="fr-FR" dirty="0"/>
              <a:t> lorsque u</a:t>
            </a:r>
            <a:r>
              <a:rPr lang="fr-FR" baseline="-25000" dirty="0"/>
              <a:t>n</a:t>
            </a:r>
            <a:r>
              <a:rPr lang="fr-FR" dirty="0"/>
              <a:t> = 2 × u</a:t>
            </a:r>
            <a:r>
              <a:rPr lang="fr-FR" baseline="-25000" dirty="0"/>
              <a:t>n−1</a:t>
            </a:r>
            <a:r>
              <a:rPr lang="fr-FR" dirty="0"/>
              <a:t> + 1 et u</a:t>
            </a:r>
            <a:r>
              <a:rPr lang="fr-FR" baseline="-25000" dirty="0"/>
              <a:t>0</a:t>
            </a:r>
            <a:r>
              <a:rPr lang="fr-FR" dirty="0"/>
              <a:t> = 0.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1822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1106D-1323-76FD-3996-9DE3A5A5C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3A3C51-77ED-0F8E-F3B2-167042D24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Suites récursives : simples – calcul itératif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ED370F-B06F-A3AB-437E-5D99D35789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Algorithme (calcul de u</a:t>
            </a:r>
            <a:r>
              <a:rPr lang="fr-FR" baseline="-25000" dirty="0"/>
              <a:t>n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/>
              <a:t>	Soit i = 0 et soit </a:t>
            </a: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= u0. </a:t>
            </a:r>
          </a:p>
          <a:p>
            <a:pPr marL="0" indent="0">
              <a:buNone/>
            </a:pPr>
            <a:r>
              <a:rPr lang="fr-FR" dirty="0"/>
              <a:t>	Tant que i &lt; n, poser 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= f (</a:t>
            </a: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) </a:t>
            </a:r>
          </a:p>
          <a:p>
            <a:pPr marL="0" indent="0">
              <a:buNone/>
            </a:pPr>
            <a:r>
              <a:rPr lang="fr-FR" dirty="0"/>
              <a:t>		puis ajouter 1 à i. </a:t>
            </a:r>
          </a:p>
          <a:p>
            <a:pPr marL="0" indent="0">
              <a:buNone/>
            </a:pPr>
            <a:r>
              <a:rPr lang="fr-FR" dirty="0"/>
              <a:t>	Retourner </a:t>
            </a: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Exemple : on veut calculer u</a:t>
            </a:r>
            <a:r>
              <a:rPr lang="fr-FR" baseline="-25000" dirty="0"/>
              <a:t>5</a:t>
            </a:r>
            <a:r>
              <a:rPr lang="fr-FR" dirty="0"/>
              <a:t> lorsque u</a:t>
            </a:r>
            <a:r>
              <a:rPr lang="fr-FR" baseline="-25000" dirty="0"/>
              <a:t>n</a:t>
            </a:r>
            <a:r>
              <a:rPr lang="fr-FR" dirty="0"/>
              <a:t> = 2 × u</a:t>
            </a:r>
            <a:r>
              <a:rPr lang="fr-FR" baseline="-25000" dirty="0"/>
              <a:t>n−1</a:t>
            </a:r>
            <a:r>
              <a:rPr lang="fr-FR" dirty="0"/>
              <a:t> + 1 et u</a:t>
            </a:r>
            <a:r>
              <a:rPr lang="fr-FR" baseline="-25000" dirty="0"/>
              <a:t>0</a:t>
            </a:r>
            <a:r>
              <a:rPr lang="fr-FR" dirty="0"/>
              <a:t> = 0.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8F0FCD-601A-28F9-3787-63BB6E6B4E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= 2 × 0 + 1 = 1, i = 1</a:t>
            </a:r>
          </a:p>
          <a:p>
            <a:pPr marL="0" indent="0">
              <a:buNone/>
            </a:pP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= 2 × 1 + 1 = 3, i = 2</a:t>
            </a:r>
          </a:p>
          <a:p>
            <a:pPr marL="0" indent="0">
              <a:buNone/>
            </a:pP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= 2 × 3 + 1 = 7, i = 3</a:t>
            </a:r>
          </a:p>
          <a:p>
            <a:pPr marL="0" indent="0">
              <a:buNone/>
            </a:pP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= 2 × 7 + 1 = 15, i = 4</a:t>
            </a:r>
          </a:p>
          <a:p>
            <a:pPr marL="0" indent="0">
              <a:buNone/>
            </a:pPr>
            <a:r>
              <a:rPr lang="fr-FR" dirty="0" err="1"/>
              <a:t>u</a:t>
            </a:r>
            <a:r>
              <a:rPr lang="fr-FR" i="1" baseline="-25000" dirty="0" err="1"/>
              <a:t>i</a:t>
            </a:r>
            <a:r>
              <a:rPr lang="fr-FR" dirty="0"/>
              <a:t> = 2 × 15 + 1 = 31, i = 5</a:t>
            </a:r>
          </a:p>
          <a:p>
            <a:pPr marL="0" indent="0">
              <a:buNone/>
            </a:pPr>
            <a:r>
              <a:rPr lang="fr-FR" dirty="0"/>
              <a:t>i ≥ 5, on retourne </a:t>
            </a:r>
            <a:r>
              <a:rPr lang="fr-FR" dirty="0" err="1"/>
              <a:t>u</a:t>
            </a:r>
            <a:r>
              <a:rPr lang="fr-FR" baseline="-25000" dirty="0" err="1"/>
              <a:t>i</a:t>
            </a:r>
            <a:r>
              <a:rPr lang="fr-FR" dirty="0"/>
              <a:t> = 31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3381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3F298-CCF1-EB30-3AB9-9FBDE5D62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86D3E-C5ED-F95E-0F11-B37AF08B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Suites récursives : simples - calcul récursif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FFF5A1-8EB9-338F-35F7-3E2C96F1C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Suite simple : </a:t>
            </a:r>
          </a:p>
          <a:p>
            <a:pPr marL="0" indent="0">
              <a:buNone/>
            </a:pPr>
            <a:r>
              <a:rPr lang="fr-FR" dirty="0"/>
              <a:t>	On considère une suite (u</a:t>
            </a:r>
            <a:r>
              <a:rPr lang="fr-FR" baseline="-25000" dirty="0"/>
              <a:t>n</a:t>
            </a:r>
            <a:r>
              <a:rPr lang="fr-FR" dirty="0"/>
              <a:t>) telle que le terme un ne dépend que du terme u</a:t>
            </a:r>
            <a:r>
              <a:rPr lang="fr-FR" baseline="-25000" dirty="0"/>
              <a:t>n−1</a:t>
            </a:r>
            <a:r>
              <a:rPr lang="fr-FR" dirty="0"/>
              <a:t> : u</a:t>
            </a:r>
            <a:r>
              <a:rPr lang="fr-FR" baseline="-25000" dirty="0"/>
              <a:t>n</a:t>
            </a:r>
            <a:r>
              <a:rPr lang="fr-FR" dirty="0"/>
              <a:t> = f (</a:t>
            </a:r>
            <a:r>
              <a:rPr lang="fr-FR" baseline="-25000" dirty="0"/>
              <a:t>un−1</a:t>
            </a:r>
            <a:r>
              <a:rPr lang="fr-FR" dirty="0"/>
              <a:t>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Algorithme (calcul de u</a:t>
            </a:r>
            <a:r>
              <a:rPr lang="fr-FR" baseline="-25000" dirty="0"/>
              <a:t>n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/>
              <a:t>On appelle u(i) la fonction </a:t>
            </a:r>
          </a:p>
          <a:p>
            <a:pPr marL="0" indent="0">
              <a:buNone/>
            </a:pPr>
            <a:r>
              <a:rPr lang="fr-FR" dirty="0"/>
              <a:t>	qui retourne u</a:t>
            </a:r>
            <a:r>
              <a:rPr lang="fr-FR" baseline="-25000" dirty="0"/>
              <a:t>0</a:t>
            </a:r>
            <a:r>
              <a:rPr lang="fr-FR" dirty="0"/>
              <a:t> si i = 0 et </a:t>
            </a:r>
          </a:p>
          <a:p>
            <a:pPr marL="0" indent="0">
              <a:buNone/>
            </a:pPr>
            <a:r>
              <a:rPr lang="fr-FR" dirty="0"/>
              <a:t>	qui retourne f (u(i− 1)) sinon </a:t>
            </a:r>
          </a:p>
          <a:p>
            <a:pPr marL="0" indent="0">
              <a:buNone/>
            </a:pPr>
            <a:r>
              <a:rPr lang="fr-FR" dirty="0"/>
              <a:t>	Retourner u(n).</a:t>
            </a:r>
          </a:p>
          <a:p>
            <a:pPr marL="0" indent="0">
              <a:buNone/>
            </a:pPr>
            <a:r>
              <a:rPr lang="fr-FR" dirty="0"/>
              <a:t>	</a:t>
            </a:r>
          </a:p>
          <a:p>
            <a:pPr marL="0" indent="0">
              <a:buNone/>
            </a:pPr>
            <a:r>
              <a:rPr lang="fr-FR" dirty="0"/>
              <a:t>Exemple : on veut calculer u</a:t>
            </a:r>
            <a:r>
              <a:rPr lang="fr-FR" baseline="-25000" dirty="0"/>
              <a:t>5</a:t>
            </a:r>
            <a:r>
              <a:rPr lang="fr-FR" dirty="0"/>
              <a:t> lorsque u</a:t>
            </a:r>
            <a:r>
              <a:rPr lang="fr-FR" baseline="-25000" dirty="0"/>
              <a:t>n</a:t>
            </a:r>
            <a:r>
              <a:rPr lang="fr-FR" dirty="0"/>
              <a:t> = 2 × u</a:t>
            </a:r>
            <a:r>
              <a:rPr lang="fr-FR" baseline="-25000" dirty="0"/>
              <a:t>n−1</a:t>
            </a:r>
            <a:r>
              <a:rPr lang="fr-FR" dirty="0"/>
              <a:t> + 1 et u</a:t>
            </a:r>
            <a:r>
              <a:rPr lang="fr-FR" baseline="-25000" dirty="0"/>
              <a:t>0</a:t>
            </a:r>
            <a:r>
              <a:rPr lang="fr-FR" dirty="0"/>
              <a:t> = 0.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911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AC799-40C9-86B1-7A36-B07FCF04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904825-E276-7334-1E3E-DE83F4AE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Suites récursives : simples - calcul récursif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F57EF-1AF8-BCAA-00CC-6A221AB410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Algorithme (calcul de u</a:t>
            </a:r>
            <a:r>
              <a:rPr lang="fr-FR" baseline="-25000" dirty="0"/>
              <a:t>n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/>
              <a:t>On appelle u(i) la fonction </a:t>
            </a:r>
          </a:p>
          <a:p>
            <a:pPr marL="0" indent="0">
              <a:buNone/>
            </a:pPr>
            <a:r>
              <a:rPr lang="fr-FR" dirty="0"/>
              <a:t>	qui retourne u</a:t>
            </a:r>
            <a:r>
              <a:rPr lang="fr-FR" baseline="-25000" dirty="0"/>
              <a:t>0</a:t>
            </a:r>
            <a:r>
              <a:rPr lang="fr-FR" dirty="0"/>
              <a:t> si i = 0 et </a:t>
            </a:r>
          </a:p>
          <a:p>
            <a:pPr marL="0" indent="0">
              <a:buNone/>
            </a:pPr>
            <a:r>
              <a:rPr lang="fr-FR" dirty="0"/>
              <a:t>	qui retourne f (u(i− 1)) sinon </a:t>
            </a:r>
          </a:p>
          <a:p>
            <a:pPr marL="0" indent="0">
              <a:buNone/>
            </a:pPr>
            <a:r>
              <a:rPr lang="fr-FR" dirty="0"/>
              <a:t>	Retourner u(n).</a:t>
            </a:r>
          </a:p>
          <a:p>
            <a:pPr marL="0" indent="0">
              <a:buNone/>
            </a:pPr>
            <a:r>
              <a:rPr lang="fr-FR" dirty="0"/>
              <a:t>	</a:t>
            </a:r>
          </a:p>
          <a:p>
            <a:pPr marL="0" indent="0">
              <a:buNone/>
            </a:pPr>
            <a:r>
              <a:rPr lang="fr-FR" dirty="0"/>
              <a:t>Exemple : on veut calculer u</a:t>
            </a:r>
            <a:r>
              <a:rPr lang="fr-FR" baseline="-25000" dirty="0"/>
              <a:t>5</a:t>
            </a:r>
            <a:r>
              <a:rPr lang="fr-FR" dirty="0"/>
              <a:t> lorsque u</a:t>
            </a:r>
            <a:r>
              <a:rPr lang="fr-FR" baseline="-25000" dirty="0"/>
              <a:t>n</a:t>
            </a:r>
            <a:r>
              <a:rPr lang="fr-FR" dirty="0"/>
              <a:t> = 2 × u</a:t>
            </a:r>
            <a:r>
              <a:rPr lang="fr-FR" baseline="-25000" dirty="0"/>
              <a:t>n−1</a:t>
            </a:r>
            <a:r>
              <a:rPr lang="fr-FR" dirty="0"/>
              <a:t> + 1 et u</a:t>
            </a:r>
            <a:r>
              <a:rPr lang="fr-FR" baseline="-25000" dirty="0"/>
              <a:t>0</a:t>
            </a:r>
            <a:r>
              <a:rPr lang="fr-FR" dirty="0"/>
              <a:t> = 0.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51E7CB8-3C04-D59C-FA63-465052F1E0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u(5) = 2*u(4) + 1</a:t>
            </a:r>
          </a:p>
          <a:p>
            <a:pPr marL="0" indent="0">
              <a:buNone/>
            </a:pPr>
            <a:r>
              <a:rPr lang="fr-FR" dirty="0"/>
              <a:t>	     u(4) = 2* u(3) + 1 </a:t>
            </a:r>
          </a:p>
          <a:p>
            <a:pPr marL="0" indent="0">
              <a:buNone/>
            </a:pPr>
            <a:r>
              <a:rPr lang="fr-FR" dirty="0"/>
              <a:t>			…</a:t>
            </a:r>
          </a:p>
          <a:p>
            <a:pPr marL="0" indent="0">
              <a:buNone/>
            </a:pPr>
            <a:r>
              <a:rPr lang="fr-FR" dirty="0"/>
              <a:t>			u(0)=0</a:t>
            </a:r>
          </a:p>
        </p:txBody>
      </p:sp>
    </p:spTree>
    <p:extLst>
      <p:ext uri="{BB962C8B-B14F-4D97-AF65-F5344CB8AC3E}">
        <p14:creationId xmlns:p14="http://schemas.microsoft.com/office/powerpoint/2010/main" val="2556187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2BE304-3188-6552-3B06-56637A3E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 suite : Fibonacci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DC455D-ABEC-5526-BBDA-094578141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128355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F(0)=0</a:t>
            </a:r>
          </a:p>
          <a:p>
            <a:pPr marL="0" indent="0">
              <a:buNone/>
            </a:pPr>
            <a:r>
              <a:rPr lang="fr-FR" dirty="0"/>
              <a:t>F(1)=1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F(n) = F(n-1) + F(n-2) pour n &gt;1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462A01-C45F-CFA1-C0EE-C3117B326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555" y="1453105"/>
            <a:ext cx="6657885" cy="412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963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FDB9-B534-8CB2-16F9-A90D2C8A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5B3B0A-F57E-97DA-DFD1-9DABBF45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 suite : Fibonacci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523F14-FF78-BC1D-BC18-4EB643879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229193" cy="435133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recursive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286D73"/>
                </a:solidFill>
                <a:effectLst/>
                <a:latin typeface="JetBrains Mono"/>
              </a:rPr>
              <a:t>fibonnaci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uint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uint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0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fibonnaci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+ 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fibonnaci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1617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47EBBD-3C7B-286D-3230-F9B4D51A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 problème : palindrome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ED01CD-9CC5-E8F0-9074-23AF6E7D57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Un palindrome est une chaîne de caractères qui se lit exactement pareil dans les deux sens.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Exemple : kayak, tôt, été, radar, ressasser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A16878-05C0-D30E-3BD8-9B3011EAE4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Condition d’arrêt ?</a:t>
            </a:r>
          </a:p>
          <a:p>
            <a:r>
              <a:rPr lang="fr-FR" dirty="0"/>
              <a:t>Apple récursif ?</a:t>
            </a:r>
          </a:p>
        </p:txBody>
      </p:sp>
    </p:spTree>
    <p:extLst>
      <p:ext uri="{BB962C8B-B14F-4D97-AF65-F5344CB8AC3E}">
        <p14:creationId xmlns:p14="http://schemas.microsoft.com/office/powerpoint/2010/main" val="904310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0489-E7D3-F1AC-4DD3-D2F64889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29F893-C837-A570-9478-2380C5E8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 problème : palindrome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B282BD-33EC-EEA1-2741-FD2D0C24E7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Un palindrome est une chaîne de caractères qui se lit exactement pareil dans les deux sens.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Exemple : kayak, tôt, été, radar, ressasser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0001069-7E3B-7BB9-7110-8D71D71720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Condition d’arrêt ?</a:t>
            </a:r>
          </a:p>
          <a:p>
            <a:pPr marL="457200" lvl="1" indent="0">
              <a:buNone/>
            </a:pPr>
            <a:r>
              <a:rPr lang="fr-FR" dirty="0"/>
              <a:t>Chaine vide</a:t>
            </a:r>
          </a:p>
          <a:p>
            <a:pPr marL="457200" lvl="1" indent="0">
              <a:buNone/>
            </a:pPr>
            <a:r>
              <a:rPr lang="fr-FR" dirty="0"/>
              <a:t>Premier et dernier caractères différents</a:t>
            </a:r>
          </a:p>
          <a:p>
            <a:r>
              <a:rPr lang="fr-FR" dirty="0"/>
              <a:t>Apple récursif ?</a:t>
            </a:r>
          </a:p>
          <a:p>
            <a:pPr marL="457200" lvl="1" indent="0">
              <a:buNone/>
            </a:pPr>
            <a:r>
              <a:rPr lang="fr-FR" dirty="0"/>
              <a:t>Mot privé du premier et du dernier caractère</a:t>
            </a:r>
          </a:p>
        </p:txBody>
      </p:sp>
    </p:spTree>
    <p:extLst>
      <p:ext uri="{BB962C8B-B14F-4D97-AF65-F5344CB8AC3E}">
        <p14:creationId xmlns:p14="http://schemas.microsoft.com/office/powerpoint/2010/main" val="2952178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4809-90AE-8752-EE73-EE7149FB8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25C6F2-BD16-E901-9F9E-E8A30A22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 problème : palindrome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3BB407-B2DB-D753-A7D1-B046D20A31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Un palindrome est une chaîne de caractères qui se lit exactement pareil dans les deux sens.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0689AF-9E6A-4677-FEB0-4F8104621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0483" y="1825625"/>
            <a:ext cx="5783317" cy="435133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recursive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286D73"/>
                </a:solidFill>
                <a:effectLst/>
                <a:latin typeface="JetBrains Mono"/>
              </a:rPr>
              <a:t>estPalindrome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s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string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b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bool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&lt;=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br>
              <a:rPr lang="fr-FR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 !=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br>
              <a:rPr lang="fr-FR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estPalindrome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0449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1934C5-06DE-F253-C213-7FE3B607D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plus complexes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2DC8ED-C6E2-4BDF-85DA-E9B88A416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Rendre la monnaie avec le moins de pièces possibles.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Rendre 15 avec {2, 3, 5, 5, 5} =&gt; {5,5,5}</a:t>
            </a:r>
          </a:p>
          <a:p>
            <a:pPr marL="0" indent="0">
              <a:buNone/>
            </a:pPr>
            <a:r>
              <a:rPr lang="fr-FR" dirty="0"/>
              <a:t>Rendre 15 avec {2,3,5}=&gt; impossible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Idée ?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5293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8832-F5C0-1BA3-1878-0CF65C96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F101CA-4272-F6BD-71E7-87497250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plus complexes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D336DBA-0E46-DF9B-B738-961FEDF93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1" t="3395" r="3416" b="31846"/>
          <a:stretch>
            <a:fillRect/>
          </a:stretch>
        </p:blipFill>
        <p:spPr>
          <a:xfrm>
            <a:off x="775520" y="1690688"/>
            <a:ext cx="10640960" cy="472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1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D4182C-CF67-E03E-2A02-CFBAF000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propos de la récursivité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D66E2EE-CE3B-25C8-AE61-71D6B50B8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Gros avantage : Les solutions à certains problèmes s’écrivent très simplement de manière récursive mais sont compliquées à écrire correctement de manière itérative (par des boucles).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Exemple (code Go) : étant donné un tableau </a:t>
            </a:r>
            <a:r>
              <a:rPr lang="fr-FR" dirty="0" err="1"/>
              <a:t>t</a:t>
            </a:r>
            <a:r>
              <a:rPr lang="fr-FR" dirty="0"/>
              <a:t> contenant des caractères et un entier</a:t>
            </a:r>
          </a:p>
          <a:p>
            <a:pPr marL="0" indent="0">
              <a:buNone/>
            </a:pPr>
            <a:r>
              <a:rPr lang="fr-FR" dirty="0"/>
              <a:t>k ≤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donner toutes les chaînes de k caractères que l’on peut construire en utilisant au plus une fois chaque caractère de </a:t>
            </a:r>
            <a:r>
              <a:rPr lang="fr-FR" dirty="0" err="1"/>
              <a:t>t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	Pour </a:t>
            </a:r>
            <a:r>
              <a:rPr lang="fr-FR" dirty="0" err="1"/>
              <a:t>t</a:t>
            </a:r>
            <a:r>
              <a:rPr lang="fr-FR" dirty="0"/>
              <a:t> = |a | b |c |d | et k = 2 on doit trouver ab, </a:t>
            </a:r>
            <a:r>
              <a:rPr lang="fr-FR" dirty="0" err="1"/>
              <a:t>ac</a:t>
            </a:r>
            <a:r>
              <a:rPr lang="fr-FR" dirty="0"/>
              <a:t>, ad, </a:t>
            </a:r>
            <a:r>
              <a:rPr lang="fr-FR" dirty="0" err="1"/>
              <a:t>ba</a:t>
            </a:r>
            <a:r>
              <a:rPr lang="fr-FR" dirty="0"/>
              <a:t>, </a:t>
            </a:r>
            <a:r>
              <a:rPr lang="fr-FR" dirty="0" err="1"/>
              <a:t>bc</a:t>
            </a:r>
            <a:r>
              <a:rPr lang="fr-FR" dirty="0"/>
              <a:t>, bd, ca, cb, cd, da, </a:t>
            </a:r>
            <a:r>
              <a:rPr lang="fr-FR" dirty="0" err="1"/>
              <a:t>db</a:t>
            </a:r>
            <a:r>
              <a:rPr lang="fr-FR" dirty="0"/>
              <a:t> et dc.</a:t>
            </a:r>
          </a:p>
          <a:p>
            <a:pPr marL="0" indent="0">
              <a:buNone/>
            </a:pPr>
            <a:r>
              <a:rPr lang="fr-FR" dirty="0"/>
              <a:t>	Pour </a:t>
            </a:r>
            <a:r>
              <a:rPr lang="fr-FR" dirty="0" err="1"/>
              <a:t>t</a:t>
            </a:r>
            <a:r>
              <a:rPr lang="fr-FR" dirty="0"/>
              <a:t> = |a | b |c |d | et k = 3 on doit trouver abc, </a:t>
            </a:r>
            <a:r>
              <a:rPr lang="fr-FR" dirty="0" err="1"/>
              <a:t>abd</a:t>
            </a:r>
            <a:r>
              <a:rPr lang="fr-FR" dirty="0"/>
              <a:t>, </a:t>
            </a:r>
            <a:r>
              <a:rPr lang="fr-FR" dirty="0" err="1"/>
              <a:t>acb</a:t>
            </a:r>
            <a:r>
              <a:rPr lang="fr-FR" dirty="0"/>
              <a:t>, </a:t>
            </a:r>
            <a:r>
              <a:rPr lang="fr-FR" dirty="0" err="1"/>
              <a:t>acd</a:t>
            </a:r>
            <a:r>
              <a:rPr lang="fr-FR" dirty="0"/>
              <a:t>, </a:t>
            </a:r>
            <a:r>
              <a:rPr lang="fr-FR" dirty="0" err="1"/>
              <a:t>adb</a:t>
            </a:r>
            <a:r>
              <a:rPr lang="fr-FR" dirty="0"/>
              <a:t>, </a:t>
            </a:r>
            <a:r>
              <a:rPr lang="fr-FR" dirty="0" err="1"/>
              <a:t>adc</a:t>
            </a:r>
            <a:r>
              <a:rPr lang="fr-FR" dirty="0"/>
              <a:t>, bac, </a:t>
            </a:r>
            <a:r>
              <a:rPr lang="fr-FR" dirty="0" err="1"/>
              <a:t>bad</a:t>
            </a:r>
            <a:r>
              <a:rPr lang="fr-FR" dirty="0"/>
              <a:t>, </a:t>
            </a:r>
            <a:r>
              <a:rPr lang="fr-FR" dirty="0" err="1"/>
              <a:t>bca</a:t>
            </a:r>
            <a:r>
              <a:rPr lang="fr-FR" dirty="0"/>
              <a:t>, </a:t>
            </a:r>
            <a:r>
              <a:rPr lang="fr-FR" dirty="0" err="1"/>
              <a:t>bcd</a:t>
            </a:r>
            <a:r>
              <a:rPr lang="fr-FR" dirty="0"/>
              <a:t>, </a:t>
            </a:r>
            <a:r>
              <a:rPr lang="fr-FR" dirty="0" err="1"/>
              <a:t>bda</a:t>
            </a:r>
            <a:r>
              <a:rPr lang="fr-FR" dirty="0"/>
              <a:t>, bdc, cab, cad, </a:t>
            </a:r>
            <a:r>
              <a:rPr lang="fr-FR" dirty="0" err="1"/>
              <a:t>cba</a:t>
            </a:r>
            <a:r>
              <a:rPr lang="fr-FR" dirty="0"/>
              <a:t>, </a:t>
            </a:r>
            <a:r>
              <a:rPr lang="fr-FR" dirty="0" err="1"/>
              <a:t>cbd</a:t>
            </a:r>
            <a:r>
              <a:rPr lang="fr-FR" dirty="0"/>
              <a:t>, </a:t>
            </a:r>
            <a:r>
              <a:rPr lang="fr-FR" dirty="0" err="1"/>
              <a:t>cda</a:t>
            </a:r>
            <a:r>
              <a:rPr lang="fr-FR" dirty="0"/>
              <a:t>, </a:t>
            </a:r>
            <a:r>
              <a:rPr lang="fr-FR" dirty="0" err="1"/>
              <a:t>cdb</a:t>
            </a:r>
            <a:r>
              <a:rPr lang="fr-FR" dirty="0"/>
              <a:t>, dab, dac, </a:t>
            </a:r>
            <a:r>
              <a:rPr lang="fr-FR" dirty="0" err="1"/>
              <a:t>dba</a:t>
            </a:r>
            <a:r>
              <a:rPr lang="fr-FR" dirty="0"/>
              <a:t>, </a:t>
            </a:r>
            <a:r>
              <a:rPr lang="fr-FR" dirty="0" err="1"/>
              <a:t>dbc</a:t>
            </a:r>
            <a:r>
              <a:rPr lang="fr-FR" dirty="0"/>
              <a:t>, dca, </a:t>
            </a:r>
            <a:r>
              <a:rPr lang="fr-FR" dirty="0" err="1"/>
              <a:t>dcb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Autres exemples plus tard : Tri fusion, algorithmes sur les arbres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6543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43BD8D-4489-8F96-5AB8-C471EA22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propos de la récursivité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22D261-8E51-6593-251F-53B24BEB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dirty="0"/>
              <a:t>Ressources : </a:t>
            </a:r>
          </a:p>
          <a:p>
            <a:pPr marL="0" indent="0">
              <a:buNone/>
            </a:pPr>
            <a:r>
              <a:rPr lang="fr-FR" dirty="0"/>
              <a:t>Un appel de fonction est plus long qu’un tour de boucle.</a:t>
            </a:r>
          </a:p>
          <a:p>
            <a:pPr marL="0" indent="0">
              <a:buNone/>
            </a:pPr>
            <a:r>
              <a:rPr lang="fr-FR" dirty="0"/>
              <a:t> Les appels de fonctions non résolus occupent la mémoire.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Récursivité terminale</a:t>
            </a:r>
          </a:p>
          <a:p>
            <a:pPr marL="0" indent="0">
              <a:buNone/>
            </a:pPr>
            <a:r>
              <a:rPr lang="fr-FR" dirty="0"/>
              <a:t>Si l’appel récursif est la dernière chose qui se passe dans une fonction, le compilateur peut optimiser et ´éviter les appels de fonctions non résolus.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Terminale : </a:t>
            </a:r>
            <a:r>
              <a:rPr lang="fr-FR" b="1" dirty="0"/>
              <a:t>renvoie</a:t>
            </a:r>
            <a:r>
              <a:rPr lang="fr-FR" dirty="0"/>
              <a:t> </a:t>
            </a:r>
            <a:r>
              <a:rPr lang="fr-FR" dirty="0" err="1"/>
              <a:t>récursionTerminale</a:t>
            </a:r>
            <a:r>
              <a:rPr lang="fr-FR" dirty="0"/>
              <a:t>(n - 1)</a:t>
            </a:r>
          </a:p>
          <a:p>
            <a:pPr marL="0" indent="0">
              <a:buNone/>
            </a:pPr>
            <a:r>
              <a:rPr lang="fr-FR" dirty="0"/>
              <a:t>Non Terminale : </a:t>
            </a:r>
            <a:r>
              <a:rPr lang="fr-FR" b="1" dirty="0"/>
              <a:t>renvoie</a:t>
            </a:r>
            <a:r>
              <a:rPr lang="fr-FR" dirty="0"/>
              <a:t> n + </a:t>
            </a:r>
            <a:r>
              <a:rPr lang="fr-FR" dirty="0" err="1"/>
              <a:t>récursionNonTerminale</a:t>
            </a:r>
            <a:r>
              <a:rPr lang="fr-FR" dirty="0"/>
              <a:t>(n - 1) //On doit conserver la référence au résultats précédents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Remarque</a:t>
            </a:r>
          </a:p>
          <a:p>
            <a:r>
              <a:rPr lang="fr-FR" dirty="0"/>
              <a:t>Une fonction récursive peut toujours être </a:t>
            </a:r>
            <a:r>
              <a:rPr lang="fr-FR"/>
              <a:t>rendue non récursive</a:t>
            </a:r>
            <a:endParaRPr lang="fr-FR" dirty="0"/>
          </a:p>
          <a:p>
            <a:r>
              <a:rPr lang="fr-FR" dirty="0"/>
              <a:t>terminale en utilisant la notion de continuation. Cependant, c’est</a:t>
            </a:r>
          </a:p>
          <a:p>
            <a:r>
              <a:rPr lang="fr-FR" dirty="0"/>
              <a:t>un peu compliqué et on n’en parlera pas dans ce cours.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90282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4230</TotalTime>
  <Words>1972</Words>
  <Application>Microsoft Macintosh PowerPoint</Application>
  <PresentationFormat>Grand écran</PresentationFormat>
  <Paragraphs>195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JetBrains Mono</vt:lpstr>
      <vt:lpstr>Thème Office</vt:lpstr>
      <vt:lpstr>R1.01</vt:lpstr>
      <vt:lpstr>Définition</vt:lpstr>
      <vt:lpstr>Exemple : recherche dichotomique </vt:lpstr>
      <vt:lpstr>Principe</vt:lpstr>
      <vt:lpstr>Principe</vt:lpstr>
      <vt:lpstr>Principe</vt:lpstr>
      <vt:lpstr>Factorielle</vt:lpstr>
      <vt:lpstr>Factorielle</vt:lpstr>
      <vt:lpstr>Factorielle</vt:lpstr>
      <vt:lpstr>Factorielle</vt:lpstr>
      <vt:lpstr>Suites récursives</vt:lpstr>
      <vt:lpstr>Suites récursives : simples - calcul itératif</vt:lpstr>
      <vt:lpstr>Suites récursives : simples – calcul itératif</vt:lpstr>
      <vt:lpstr>Suites récursives : simples - calcul récursif</vt:lpstr>
      <vt:lpstr>Suites récursives : simples - calcul récursif</vt:lpstr>
      <vt:lpstr>Autre suite : Fibonacci</vt:lpstr>
      <vt:lpstr>Autre suite : Fibonacci</vt:lpstr>
      <vt:lpstr>Autre problème : palindrome</vt:lpstr>
      <vt:lpstr>Autre problème : palindrome</vt:lpstr>
      <vt:lpstr>Autre problème : palindrome</vt:lpstr>
      <vt:lpstr>Problème plus complexes</vt:lpstr>
      <vt:lpstr>Problème plus complexes</vt:lpstr>
      <vt:lpstr>A propos de la récursivité</vt:lpstr>
      <vt:lpstr>A propos de la récursivité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jub</dc:creator>
  <cp:lastModifiedBy>jub</cp:lastModifiedBy>
  <cp:revision>416</cp:revision>
  <dcterms:created xsi:type="dcterms:W3CDTF">2025-09-03T10:56:00Z</dcterms:created>
  <dcterms:modified xsi:type="dcterms:W3CDTF">2025-09-28T22:47:45Z</dcterms:modified>
</cp:coreProperties>
</file>